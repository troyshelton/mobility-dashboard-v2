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s/slide79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slides/slide9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s/slide80.xml" ContentType="application/vnd.openxmlformats-officedocument.presentationml.slide+xml"/>
  <Override PartName="/ppt/slides/slide82.xml" ContentType="application/vnd.openxmlformats-officedocument.presentationml.slide+xml"/>
  <Override PartName="/ppt/slides/slide91.xml" ContentType="application/vnd.openxmlformats-officedocument.presentationml.slide+xml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89.xml" ContentType="application/vnd.openxmlformats-officedocument.presentationml.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slides/slide87.xml" ContentType="application/vnd.openxmlformats-officedocument.presentationml.slide+xml"/>
  <Override PartName="/ppt/handoutMasters/handoutMaster1.xml" ContentType="application/vnd.openxmlformats-officedocument.presentationml.handoutMaster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 autoCompressPictures="0">
  <p:sldMasterIdLst>
    <p:sldMasterId id="2147483648" r:id="rId1"/>
  </p:sldMasterIdLst>
  <p:notesMasterIdLst>
    <p:notesMasterId r:id="rId95"/>
  </p:notesMasterIdLst>
  <p:handoutMasterIdLst>
    <p:handoutMasterId r:id="rId96"/>
  </p:handoutMasterIdLst>
  <p:sldIdLst>
    <p:sldId id="448" r:id="rId2"/>
    <p:sldId id="449" r:id="rId3"/>
    <p:sldId id="452" r:id="rId4"/>
    <p:sldId id="467" r:id="rId5"/>
    <p:sldId id="463" r:id="rId6"/>
    <p:sldId id="469" r:id="rId7"/>
    <p:sldId id="468" r:id="rId8"/>
    <p:sldId id="461" r:id="rId9"/>
    <p:sldId id="470" r:id="rId10"/>
    <p:sldId id="471" r:id="rId11"/>
    <p:sldId id="460" r:id="rId12"/>
    <p:sldId id="472" r:id="rId13"/>
    <p:sldId id="462" r:id="rId14"/>
    <p:sldId id="473" r:id="rId15"/>
    <p:sldId id="464" r:id="rId16"/>
    <p:sldId id="466" r:id="rId17"/>
    <p:sldId id="474" r:id="rId18"/>
    <p:sldId id="465" r:id="rId19"/>
    <p:sldId id="479" r:id="rId20"/>
    <p:sldId id="475" r:id="rId21"/>
    <p:sldId id="478" r:id="rId22"/>
    <p:sldId id="522" r:id="rId23"/>
    <p:sldId id="521" r:id="rId24"/>
    <p:sldId id="520" r:id="rId25"/>
    <p:sldId id="519" r:id="rId26"/>
    <p:sldId id="518" r:id="rId27"/>
    <p:sldId id="629" r:id="rId28"/>
    <p:sldId id="630" r:id="rId29"/>
    <p:sldId id="631" r:id="rId30"/>
    <p:sldId id="632" r:id="rId31"/>
    <p:sldId id="633" r:id="rId32"/>
    <p:sldId id="634" r:id="rId33"/>
    <p:sldId id="636" r:id="rId34"/>
    <p:sldId id="635" r:id="rId35"/>
    <p:sldId id="637" r:id="rId36"/>
    <p:sldId id="638" r:id="rId37"/>
    <p:sldId id="480" r:id="rId38"/>
    <p:sldId id="481" r:id="rId39"/>
    <p:sldId id="515" r:id="rId40"/>
    <p:sldId id="516" r:id="rId41"/>
    <p:sldId id="582" r:id="rId42"/>
    <p:sldId id="583" r:id="rId43"/>
    <p:sldId id="584" r:id="rId44"/>
    <p:sldId id="586" r:id="rId45"/>
    <p:sldId id="588" r:id="rId46"/>
    <p:sldId id="589" r:id="rId47"/>
    <p:sldId id="591" r:id="rId48"/>
    <p:sldId id="592" r:id="rId49"/>
    <p:sldId id="593" r:id="rId50"/>
    <p:sldId id="594" r:id="rId51"/>
    <p:sldId id="595" r:id="rId52"/>
    <p:sldId id="596" r:id="rId53"/>
    <p:sldId id="598" r:id="rId54"/>
    <p:sldId id="476" r:id="rId55"/>
    <p:sldId id="477" r:id="rId56"/>
    <p:sldId id="523" r:id="rId57"/>
    <p:sldId id="560" r:id="rId58"/>
    <p:sldId id="544" r:id="rId59"/>
    <p:sldId id="540" r:id="rId60"/>
    <p:sldId id="599" r:id="rId61"/>
    <p:sldId id="600" r:id="rId62"/>
    <p:sldId id="601" r:id="rId63"/>
    <p:sldId id="602" r:id="rId64"/>
    <p:sldId id="603" r:id="rId65"/>
    <p:sldId id="578" r:id="rId66"/>
    <p:sldId id="577" r:id="rId67"/>
    <p:sldId id="528" r:id="rId68"/>
    <p:sldId id="508" r:id="rId69"/>
    <p:sldId id="503" r:id="rId70"/>
    <p:sldId id="604" r:id="rId71"/>
    <p:sldId id="605" r:id="rId72"/>
    <p:sldId id="606" r:id="rId73"/>
    <p:sldId id="607" r:id="rId74"/>
    <p:sldId id="612" r:id="rId75"/>
    <p:sldId id="613" r:id="rId76"/>
    <p:sldId id="614" r:id="rId77"/>
    <p:sldId id="615" r:id="rId78"/>
    <p:sldId id="616" r:id="rId79"/>
    <p:sldId id="628" r:id="rId80"/>
    <p:sldId id="617" r:id="rId81"/>
    <p:sldId id="618" r:id="rId82"/>
    <p:sldId id="619" r:id="rId83"/>
    <p:sldId id="620" r:id="rId84"/>
    <p:sldId id="621" r:id="rId85"/>
    <p:sldId id="622" r:id="rId86"/>
    <p:sldId id="623" r:id="rId87"/>
    <p:sldId id="624" r:id="rId88"/>
    <p:sldId id="625" r:id="rId89"/>
    <p:sldId id="626" r:id="rId90"/>
    <p:sldId id="627" r:id="rId91"/>
    <p:sldId id="579" r:id="rId92"/>
    <p:sldId id="580" r:id="rId93"/>
    <p:sldId id="581" r:id="rId94"/>
  </p:sldIdLst>
  <p:sldSz cx="9144000" cy="6858000" type="screen4x3"/>
  <p:notesSz cx="7010400" cy="9296400"/>
  <p:custDataLst>
    <p:tags r:id="rId97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600" b="1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3600" b="1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3600" b="1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3600" b="1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3600" b="1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3600" b="1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3600" b="1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3600" b="1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3600" b="1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3792D1"/>
    <a:srgbClr val="35B9C8"/>
    <a:srgbClr val="3294D3"/>
    <a:srgbClr val="3293D3"/>
    <a:srgbClr val="7AC143"/>
    <a:srgbClr val="111D34"/>
    <a:srgbClr val="D0B668"/>
    <a:srgbClr val="0B5D7B"/>
    <a:srgbClr val="2A95BE"/>
    <a:srgbClr val="81B954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09" autoAdjust="0"/>
    <p:restoredTop sz="94660"/>
  </p:normalViewPr>
  <p:slideViewPr>
    <p:cSldViewPr>
      <p:cViewPr>
        <p:scale>
          <a:sx n="110" d="100"/>
          <a:sy n="110" d="100"/>
        </p:scale>
        <p:origin x="-1650" y="-462"/>
      </p:cViewPr>
      <p:guideLst>
        <p:guide orient="horz" pos="1879"/>
        <p:guide orient="horz" pos="826"/>
        <p:guide orient="horz" pos="2240"/>
        <p:guide orient="horz"/>
        <p:guide orient="horz" pos="3022"/>
        <p:guide orient="horz" pos="578"/>
        <p:guide orient="horz" pos="100"/>
        <p:guide orient="horz" pos="622"/>
        <p:guide orient="horz" pos="1553"/>
        <p:guide orient="horz" pos="1392"/>
        <p:guide pos="2880"/>
        <p:guide pos="115"/>
        <p:guide pos="3551"/>
        <p:guide pos="4037"/>
        <p:guide pos="5655"/>
        <p:guide pos="5383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256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97" Type="http://schemas.openxmlformats.org/officeDocument/2006/relationships/tags" Target="tags/tag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67050" cy="433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193" tIns="43596" rIns="87193" bIns="43596" numCol="1" anchor="t" anchorCtr="0" compatLnSpc="1">
            <a:prstTxWarp prst="textNoShape">
              <a:avLst/>
            </a:prstTxWarp>
          </a:bodyPr>
          <a:lstStyle>
            <a:lvl1pPr defTabSz="873125" eaLnBrk="0" hangingPunct="0">
              <a:defRPr sz="1100" b="0">
                <a:latin typeface="Times" pitchFamily="18" charset="0"/>
              </a:defRPr>
            </a:lvl1pPr>
          </a:lstStyle>
          <a:p>
            <a:endParaRPr lang="en-US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43350" y="0"/>
            <a:ext cx="3067050" cy="433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193" tIns="43596" rIns="87193" bIns="43596" numCol="1" anchor="t" anchorCtr="0" compatLnSpc="1">
            <a:prstTxWarp prst="textNoShape">
              <a:avLst/>
            </a:prstTxWarp>
          </a:bodyPr>
          <a:lstStyle>
            <a:lvl1pPr algn="r" defTabSz="873125" eaLnBrk="0" hangingPunct="0">
              <a:defRPr sz="1100" b="0">
                <a:latin typeface="Times" pitchFamily="18" charset="0"/>
              </a:defRPr>
            </a:lvl1pPr>
          </a:lstStyle>
          <a:p>
            <a:endParaRPr lang="en-US"/>
          </a:p>
        </p:txBody>
      </p:sp>
      <p:sp>
        <p:nvSpPr>
          <p:cNvPr id="890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4438"/>
            <a:ext cx="3067050" cy="433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193" tIns="43596" rIns="87193" bIns="43596" numCol="1" anchor="b" anchorCtr="0" compatLnSpc="1">
            <a:prstTxWarp prst="textNoShape">
              <a:avLst/>
            </a:prstTxWarp>
          </a:bodyPr>
          <a:lstStyle>
            <a:lvl1pPr defTabSz="873125" eaLnBrk="0" hangingPunct="0">
              <a:defRPr sz="1100" b="0">
                <a:latin typeface="Times" pitchFamily="18" charset="0"/>
              </a:defRPr>
            </a:lvl1pPr>
          </a:lstStyle>
          <a:p>
            <a:endParaRPr lang="en-US"/>
          </a:p>
        </p:txBody>
      </p:sp>
      <p:sp>
        <p:nvSpPr>
          <p:cNvPr id="890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43350" y="8834438"/>
            <a:ext cx="3067050" cy="433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193" tIns="43596" rIns="87193" bIns="43596" numCol="1" anchor="b" anchorCtr="0" compatLnSpc="1">
            <a:prstTxWarp prst="textNoShape">
              <a:avLst/>
            </a:prstTxWarp>
          </a:bodyPr>
          <a:lstStyle>
            <a:lvl1pPr algn="r" defTabSz="873125" eaLnBrk="0" hangingPunct="0">
              <a:defRPr sz="1100" b="0">
                <a:latin typeface="Times" pitchFamily="18" charset="0"/>
              </a:defRPr>
            </a:lvl1pPr>
          </a:lstStyle>
          <a:p>
            <a:fld id="{FA41E8D0-BDFC-4D14-BF49-7B4F402232B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203324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67050" cy="433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193" tIns="43596" rIns="87193" bIns="43596" numCol="1" anchor="t" anchorCtr="0" compatLnSpc="1">
            <a:prstTxWarp prst="textNoShape">
              <a:avLst/>
            </a:prstTxWarp>
          </a:bodyPr>
          <a:lstStyle>
            <a:lvl1pPr defTabSz="873125" eaLnBrk="0" hangingPunct="0">
              <a:defRPr sz="1100" b="0">
                <a:latin typeface="Times" pitchFamily="18" charset="0"/>
              </a:defRPr>
            </a:lvl1pPr>
          </a:lstStyle>
          <a:p>
            <a:endParaRPr 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43350" y="0"/>
            <a:ext cx="3067050" cy="433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193" tIns="43596" rIns="87193" bIns="43596" numCol="1" anchor="t" anchorCtr="0" compatLnSpc="1">
            <a:prstTxWarp prst="textNoShape">
              <a:avLst/>
            </a:prstTxWarp>
          </a:bodyPr>
          <a:lstStyle>
            <a:lvl1pPr algn="r" defTabSz="873125" eaLnBrk="0" hangingPunct="0">
              <a:defRPr sz="1100" b="0">
                <a:latin typeface="Times" pitchFamily="18" charset="0"/>
              </a:defRPr>
            </a:lvl1pPr>
          </a:lstStyle>
          <a:p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7450" y="723900"/>
            <a:ext cx="4637088" cy="34766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9325" y="4416425"/>
            <a:ext cx="5111750" cy="420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193" tIns="43596" rIns="87193" bIns="4359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4438"/>
            <a:ext cx="3067050" cy="433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193" tIns="43596" rIns="87193" bIns="43596" numCol="1" anchor="b" anchorCtr="0" compatLnSpc="1">
            <a:prstTxWarp prst="textNoShape">
              <a:avLst/>
            </a:prstTxWarp>
          </a:bodyPr>
          <a:lstStyle>
            <a:lvl1pPr defTabSz="873125" eaLnBrk="0" hangingPunct="0">
              <a:defRPr sz="1100" b="0">
                <a:latin typeface="Times" pitchFamily="18" charset="0"/>
              </a:defRPr>
            </a:lvl1pPr>
          </a:lstStyle>
          <a:p>
            <a:endParaRPr lang="en-US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43350" y="8834438"/>
            <a:ext cx="3067050" cy="433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193" tIns="43596" rIns="87193" bIns="43596" numCol="1" anchor="b" anchorCtr="0" compatLnSpc="1">
            <a:prstTxWarp prst="textNoShape">
              <a:avLst/>
            </a:prstTxWarp>
          </a:bodyPr>
          <a:lstStyle>
            <a:lvl1pPr algn="r" defTabSz="873125" eaLnBrk="0" hangingPunct="0">
              <a:defRPr sz="1100" b="0">
                <a:latin typeface="Times" pitchFamily="18" charset="0"/>
              </a:defRPr>
            </a:lvl1pPr>
          </a:lstStyle>
          <a:p>
            <a:fld id="{21E2B1A0-4CCE-456A-BBD7-211C37ADDFA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5088855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ＭＳ Ｐゴシック" pitchFamily="-112" charset="-128"/>
        <a:cs typeface="ＭＳ Ｐゴシック" pitchFamily="-112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erner -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_CHC_PPT_Cover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tretch>
            <a:fillRect/>
          </a:stretch>
        </p:blipFill>
        <p:spPr>
          <a:xfrm>
            <a:off x="0" y="0"/>
            <a:ext cx="9142572" cy="6858000"/>
          </a:xfrm>
          <a:prstGeom prst="rect">
            <a:avLst/>
          </a:prstGeom>
        </p:spPr>
      </p:pic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412063" y="704054"/>
            <a:ext cx="6723027" cy="1362582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Franklin Gothic Demi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23610" y="2217247"/>
            <a:ext cx="5020573" cy="415115"/>
          </a:xfrm>
        </p:spPr>
        <p:txBody>
          <a:bodyPr anchor="ctr" anchorCtr="0"/>
          <a:lstStyle>
            <a:lvl1pPr marL="0" indent="0" algn="l">
              <a:buNone/>
              <a:defRPr sz="2000" baseline="0">
                <a:solidFill>
                  <a:schemeClr val="accent2"/>
                </a:solidFill>
                <a:latin typeface="Franklin Gothic Dem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Organization name</a:t>
            </a:r>
            <a:endParaRPr lang="en-US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0" hasCustomPrompt="1"/>
          </p:nvPr>
        </p:nvSpPr>
        <p:spPr>
          <a:xfrm>
            <a:off x="435160" y="2742769"/>
            <a:ext cx="3725863" cy="423083"/>
          </a:xfrm>
        </p:spPr>
        <p:txBody>
          <a:bodyPr/>
          <a:lstStyle>
            <a:lvl1pPr marL="0" indent="0">
              <a:buNone/>
              <a:defRPr sz="1600" baseline="0">
                <a:solidFill>
                  <a:schemeClr val="bg2">
                    <a:lumMod val="75000"/>
                    <a:lumOff val="25000"/>
                  </a:schemeClr>
                </a:solidFill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Click to add presenter name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erner - Divider/AL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_CHC_PPT_Divider-01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tretch>
            <a:fillRect/>
          </a:stretch>
        </p:blipFill>
        <p:spPr>
          <a:xfrm>
            <a:off x="0" y="0"/>
            <a:ext cx="9142572" cy="6858000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 bwMode="auto">
          <a:xfrm>
            <a:off x="8977313" y="2"/>
            <a:ext cx="166688" cy="685799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366713" marR="0" indent="-366713" algn="ctr" defTabSz="976313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40000"/>
              <a:buFontTx/>
              <a:buNone/>
              <a:tabLst/>
            </a:pPr>
            <a:endParaRPr kumimoji="0" lang="en-US" sz="3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2120793" y="673604"/>
            <a:ext cx="6342026" cy="1323767"/>
          </a:xfrm>
        </p:spPr>
        <p:txBody>
          <a:bodyPr/>
          <a:lstStyle>
            <a:lvl1pPr>
              <a:defRPr>
                <a:solidFill>
                  <a:schemeClr val="bg2">
                    <a:lumMod val="65000"/>
                    <a:lumOff val="35000"/>
                  </a:schemeClr>
                </a:solidFill>
                <a:latin typeface="Franklin Gothic Demi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2120792" y="1770184"/>
            <a:ext cx="6365117" cy="781373"/>
          </a:xfrm>
        </p:spPr>
        <p:txBody>
          <a:bodyPr anchor="ctr" anchorCtr="0"/>
          <a:lstStyle>
            <a:lvl1pPr marL="0" indent="0" algn="l">
              <a:buNone/>
              <a:defRPr sz="1600">
                <a:solidFill>
                  <a:schemeClr val="tx2"/>
                </a:solidFill>
                <a:latin typeface="Franklin Gothic Dem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3" name="TextBox 2"/>
          <p:cNvSpPr txBox="1"/>
          <p:nvPr userDrawn="1"/>
        </p:nvSpPr>
        <p:spPr>
          <a:xfrm>
            <a:off x="242453" y="6246090"/>
            <a:ext cx="2135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dirty="0" smtClean="0">
                <a:solidFill>
                  <a:schemeClr val="bg1"/>
                </a:solidFill>
                <a:latin typeface="Franklin Gothic Demi"/>
                <a:cs typeface="Franklin Gothic Demi"/>
              </a:rPr>
              <a:t>CHC 2011</a:t>
            </a:r>
            <a:endParaRPr lang="en-US" sz="1800" b="0" dirty="0">
              <a:solidFill>
                <a:schemeClr val="bg1"/>
              </a:solidFill>
              <a:latin typeface="Franklin Gothic Demi"/>
              <a:cs typeface="Franklin Gothic Dem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erner -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dirty="0" smtClean="0"/>
              <a:t>Subhead One</a:t>
            </a:r>
          </a:p>
          <a:p>
            <a:pPr lvl="1"/>
            <a:r>
              <a:rPr lang="en-US" dirty="0" smtClean="0"/>
              <a:t>Secondary text bullet</a:t>
            </a:r>
          </a:p>
          <a:p>
            <a:pPr lvl="1"/>
            <a:r>
              <a:rPr lang="en-US" dirty="0" smtClean="0"/>
              <a:t>Secondary text bullet</a:t>
            </a:r>
          </a:p>
          <a:p>
            <a:pPr lvl="2"/>
            <a:r>
              <a:rPr lang="en-US" dirty="0" smtClean="0"/>
              <a:t>Third bullet</a:t>
            </a:r>
          </a:p>
          <a:p>
            <a:pPr lvl="0"/>
            <a:r>
              <a:rPr lang="en-US" dirty="0" smtClean="0"/>
              <a:t>Subhead Two</a:t>
            </a:r>
          </a:p>
          <a:p>
            <a:pPr lvl="1"/>
            <a:r>
              <a:rPr lang="en-US" dirty="0" smtClean="0"/>
              <a:t>Secondary text bullet</a:t>
            </a:r>
          </a:p>
          <a:p>
            <a:pPr lvl="1"/>
            <a:r>
              <a:rPr lang="en-US" dirty="0" smtClean="0"/>
              <a:t>Secondary text bullet</a:t>
            </a:r>
          </a:p>
          <a:p>
            <a:pPr lvl="2"/>
            <a:r>
              <a:rPr lang="en-US" dirty="0" smtClean="0"/>
              <a:t>Third bullet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rner - 2 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0" hasCustomPrompt="1"/>
          </p:nvPr>
        </p:nvSpPr>
        <p:spPr>
          <a:xfrm>
            <a:off x="4102873" y="3836020"/>
            <a:ext cx="4386922" cy="2014653"/>
          </a:xfrm>
        </p:spPr>
        <p:txBody>
          <a:bodyPr/>
          <a:lstStyle>
            <a:lvl1pPr marL="344488" indent="-344488">
              <a:buSzPct val="100000"/>
              <a:buFontTx/>
              <a:buBlip>
                <a:blip r:embed="rId2"/>
              </a:buBlip>
              <a:defRPr sz="2400"/>
            </a:lvl1pPr>
            <a:lvl2pPr marL="690563" indent="-285750">
              <a:buSzPct val="100000"/>
              <a:defRPr sz="2000"/>
            </a:lvl2pPr>
            <a:lvl3pPr marL="1027113" indent="-171450">
              <a:defRPr sz="18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Subhead One</a:t>
            </a:r>
          </a:p>
          <a:p>
            <a:pPr lvl="1"/>
            <a:r>
              <a:rPr lang="en-US" dirty="0" smtClean="0"/>
              <a:t>Secondary text bullet</a:t>
            </a:r>
          </a:p>
          <a:p>
            <a:pPr lvl="1"/>
            <a:r>
              <a:rPr lang="en-US" dirty="0" smtClean="0"/>
              <a:t>Secondary text bullet</a:t>
            </a:r>
          </a:p>
          <a:p>
            <a:pPr lvl="2"/>
            <a:r>
              <a:rPr lang="en-US" dirty="0" smtClean="0"/>
              <a:t>Third bullet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457200" y="1554163"/>
            <a:ext cx="3347204" cy="2014537"/>
          </a:xfrm>
          <a:ln w="19050">
            <a:solidFill>
              <a:schemeClr val="accent2"/>
            </a:solidFill>
          </a:ln>
          <a:effectLst>
            <a:innerShdw blurRad="114300">
              <a:prstClr val="black"/>
            </a:innerShdw>
          </a:effectLst>
        </p:spPr>
        <p:txBody>
          <a:bodyPr/>
          <a:lstStyle/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457200" y="3836136"/>
            <a:ext cx="3347204" cy="2014537"/>
          </a:xfrm>
          <a:ln w="19050">
            <a:solidFill>
              <a:schemeClr val="accent2"/>
            </a:solidFill>
          </a:ln>
          <a:effectLst>
            <a:innerShdw blurRad="114300">
              <a:prstClr val="black"/>
            </a:innerShdw>
          </a:effectLst>
        </p:spPr>
        <p:txBody>
          <a:bodyPr/>
          <a:lstStyle/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3" hasCustomPrompt="1"/>
          </p:nvPr>
        </p:nvSpPr>
        <p:spPr>
          <a:xfrm>
            <a:off x="4102873" y="1554163"/>
            <a:ext cx="4386922" cy="2014653"/>
          </a:xfrm>
        </p:spPr>
        <p:txBody>
          <a:bodyPr/>
          <a:lstStyle>
            <a:lvl1pPr marL="344488" indent="-344488">
              <a:buSzPct val="100000"/>
              <a:buFontTx/>
              <a:buBlip>
                <a:blip r:embed="rId2"/>
              </a:buBlip>
              <a:defRPr sz="2400"/>
            </a:lvl1pPr>
            <a:lvl2pPr marL="690563" indent="-293688">
              <a:buSzPct val="100000"/>
              <a:defRPr sz="2000"/>
            </a:lvl2pPr>
            <a:lvl3pPr marL="1027113" indent="-171450">
              <a:defRPr sz="18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Subhead One</a:t>
            </a:r>
          </a:p>
          <a:p>
            <a:pPr lvl="1"/>
            <a:r>
              <a:rPr lang="en-US" dirty="0" smtClean="0"/>
              <a:t>Secondary text bullet</a:t>
            </a:r>
          </a:p>
          <a:p>
            <a:pPr lvl="1"/>
            <a:r>
              <a:rPr lang="en-US" dirty="0" smtClean="0"/>
              <a:t>Secondary text bullet</a:t>
            </a:r>
          </a:p>
          <a:p>
            <a:pPr lvl="2"/>
            <a:r>
              <a:rPr lang="en-US" dirty="0" smtClean="0"/>
              <a:t>Third bullet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rner - 1 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457200" y="1554163"/>
            <a:ext cx="3347204" cy="4363558"/>
          </a:xfrm>
          <a:ln w="19050">
            <a:solidFill>
              <a:schemeClr val="accent2"/>
            </a:solidFill>
          </a:ln>
          <a:effectLst>
            <a:innerShdw blurRad="114300">
              <a:prstClr val="black"/>
            </a:innerShdw>
          </a:effectLst>
        </p:spPr>
        <p:txBody>
          <a:bodyPr/>
          <a:lstStyle/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3" hasCustomPrompt="1"/>
          </p:nvPr>
        </p:nvSpPr>
        <p:spPr>
          <a:xfrm>
            <a:off x="4102873" y="1554163"/>
            <a:ext cx="4386922" cy="4363558"/>
          </a:xfrm>
        </p:spPr>
        <p:txBody>
          <a:bodyPr/>
          <a:lstStyle>
            <a:lvl1pPr marL="344488" indent="-344488">
              <a:buSzPct val="100000"/>
              <a:buFontTx/>
              <a:buBlip>
                <a:blip r:embed="rId2"/>
              </a:buBlip>
              <a:defRPr sz="2400"/>
            </a:lvl1pPr>
            <a:lvl2pPr marL="690563" indent="-293688">
              <a:buSzPct val="100000"/>
              <a:defRPr sz="2000"/>
            </a:lvl2pPr>
            <a:lvl3pPr marL="1027113" indent="-171450">
              <a:defRPr sz="1800" baseline="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Subhead One</a:t>
            </a:r>
          </a:p>
          <a:p>
            <a:pPr lvl="1"/>
            <a:r>
              <a:rPr lang="en-US" dirty="0" smtClean="0"/>
              <a:t>Secondary text bullet</a:t>
            </a:r>
          </a:p>
          <a:p>
            <a:pPr lvl="1"/>
            <a:r>
              <a:rPr lang="en-US" dirty="0" smtClean="0"/>
              <a:t>Secondary text bullet</a:t>
            </a:r>
          </a:p>
          <a:p>
            <a:pPr lvl="2"/>
            <a:r>
              <a:rPr lang="en-US" dirty="0" smtClean="0"/>
              <a:t>Third bullet</a:t>
            </a:r>
          </a:p>
          <a:p>
            <a:pPr lvl="0"/>
            <a:endParaRPr lang="en-US" dirty="0" smtClean="0"/>
          </a:p>
          <a:p>
            <a:pPr lvl="0"/>
            <a:r>
              <a:rPr lang="en-US" dirty="0" smtClean="0"/>
              <a:t>Subhead Two</a:t>
            </a:r>
          </a:p>
          <a:p>
            <a:pPr lvl="1"/>
            <a:r>
              <a:rPr lang="en-US" dirty="0" smtClean="0"/>
              <a:t>Secondary text bullet</a:t>
            </a:r>
          </a:p>
          <a:p>
            <a:pPr lvl="1"/>
            <a:r>
              <a:rPr lang="en-US" dirty="0" smtClean="0"/>
              <a:t>Secondary text bullet</a:t>
            </a:r>
          </a:p>
          <a:p>
            <a:pPr lvl="2"/>
            <a:r>
              <a:rPr lang="en-US" dirty="0" smtClean="0"/>
              <a:t>Third Bullet</a:t>
            </a:r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rner -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3" hasCustomPrompt="1"/>
          </p:nvPr>
        </p:nvSpPr>
        <p:spPr>
          <a:xfrm>
            <a:off x="4516871" y="1562790"/>
            <a:ext cx="3980147" cy="4363558"/>
          </a:xfrm>
        </p:spPr>
        <p:txBody>
          <a:bodyPr/>
          <a:lstStyle>
            <a:lvl1pPr marL="344488" indent="-344488">
              <a:buSzPct val="100000"/>
              <a:buFontTx/>
              <a:buBlip>
                <a:blip r:embed="rId2"/>
              </a:buBlip>
              <a:defRPr sz="2400"/>
            </a:lvl1pPr>
            <a:lvl2pPr marL="690563" indent="-293688">
              <a:buSzPct val="100000"/>
              <a:defRPr sz="2000"/>
            </a:lvl2pPr>
            <a:lvl3pPr marL="1027113" indent="-171450">
              <a:defRPr sz="1800" baseline="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Subhead One</a:t>
            </a:r>
          </a:p>
          <a:p>
            <a:pPr lvl="1"/>
            <a:r>
              <a:rPr lang="en-US" dirty="0" smtClean="0"/>
              <a:t>Secondary text bullet</a:t>
            </a:r>
          </a:p>
          <a:p>
            <a:pPr lvl="1"/>
            <a:r>
              <a:rPr lang="en-US" dirty="0" smtClean="0"/>
              <a:t>Secondary text bullet</a:t>
            </a:r>
          </a:p>
          <a:p>
            <a:pPr lvl="2"/>
            <a:r>
              <a:rPr lang="en-US" dirty="0" smtClean="0"/>
              <a:t>Third bullet</a:t>
            </a:r>
          </a:p>
          <a:p>
            <a:pPr lvl="0"/>
            <a:endParaRPr lang="en-US" dirty="0" smtClean="0"/>
          </a:p>
          <a:p>
            <a:pPr lvl="0"/>
            <a:r>
              <a:rPr lang="en-US" dirty="0" smtClean="0"/>
              <a:t>Subhead Two</a:t>
            </a:r>
          </a:p>
          <a:p>
            <a:pPr lvl="1"/>
            <a:r>
              <a:rPr lang="en-US" dirty="0" smtClean="0"/>
              <a:t>Secondary text bullet</a:t>
            </a:r>
          </a:p>
          <a:p>
            <a:pPr lvl="1"/>
            <a:r>
              <a:rPr lang="en-US" dirty="0" smtClean="0"/>
              <a:t>Secondary text bullet</a:t>
            </a:r>
          </a:p>
          <a:p>
            <a:pPr lvl="2"/>
            <a:r>
              <a:rPr lang="en-US" dirty="0" smtClean="0"/>
              <a:t>Third Bullet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4" hasCustomPrompt="1"/>
          </p:nvPr>
        </p:nvSpPr>
        <p:spPr>
          <a:xfrm>
            <a:off x="287125" y="1559915"/>
            <a:ext cx="3977640" cy="4363558"/>
          </a:xfrm>
        </p:spPr>
        <p:txBody>
          <a:bodyPr/>
          <a:lstStyle>
            <a:lvl1pPr marL="344488" indent="-344488">
              <a:buSzPct val="100000"/>
              <a:buFontTx/>
              <a:buBlip>
                <a:blip r:embed="rId2"/>
              </a:buBlip>
              <a:defRPr sz="2400"/>
            </a:lvl1pPr>
            <a:lvl2pPr marL="690563" indent="-293688">
              <a:buSzPct val="100000"/>
              <a:defRPr sz="2000"/>
            </a:lvl2pPr>
            <a:lvl3pPr marL="1027113" indent="-171450">
              <a:defRPr sz="1800" baseline="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Subhead One</a:t>
            </a:r>
          </a:p>
          <a:p>
            <a:pPr lvl="1"/>
            <a:r>
              <a:rPr lang="en-US" dirty="0" smtClean="0"/>
              <a:t>Secondary text bullet</a:t>
            </a:r>
          </a:p>
          <a:p>
            <a:pPr lvl="1"/>
            <a:r>
              <a:rPr lang="en-US" dirty="0" smtClean="0"/>
              <a:t>Secondary text bullet</a:t>
            </a:r>
          </a:p>
          <a:p>
            <a:pPr lvl="2"/>
            <a:r>
              <a:rPr lang="en-US" dirty="0" smtClean="0"/>
              <a:t>Third bullet</a:t>
            </a:r>
          </a:p>
          <a:p>
            <a:pPr lvl="0"/>
            <a:endParaRPr lang="en-US" dirty="0" smtClean="0"/>
          </a:p>
          <a:p>
            <a:pPr lvl="0"/>
            <a:r>
              <a:rPr lang="en-US" dirty="0" smtClean="0"/>
              <a:t>Subhead Two</a:t>
            </a:r>
          </a:p>
          <a:p>
            <a:pPr lvl="1"/>
            <a:r>
              <a:rPr lang="en-US" dirty="0" smtClean="0"/>
              <a:t>Secondary text bullet</a:t>
            </a:r>
          </a:p>
          <a:p>
            <a:pPr lvl="1"/>
            <a:r>
              <a:rPr lang="en-US" dirty="0" smtClean="0"/>
              <a:t>Secondary text bullet</a:t>
            </a:r>
          </a:p>
          <a:p>
            <a:pPr lvl="2"/>
            <a:r>
              <a:rPr lang="en-US" dirty="0" smtClean="0"/>
              <a:t>Third Bullet</a:t>
            </a:r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rner - Callout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auto">
          <a:xfrm>
            <a:off x="457200" y="2128761"/>
            <a:ext cx="3347204" cy="3452530"/>
          </a:xfrm>
          <a:prstGeom prst="rect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366713" marR="0" indent="-366713" algn="ctr" defTabSz="976313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40000"/>
              <a:buFontTx/>
              <a:buNone/>
              <a:tabLst/>
            </a:pPr>
            <a:endParaRPr kumimoji="0" lang="en-US" sz="3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3" hasCustomPrompt="1"/>
          </p:nvPr>
        </p:nvSpPr>
        <p:spPr>
          <a:xfrm>
            <a:off x="4102873" y="1284781"/>
            <a:ext cx="4386922" cy="4296510"/>
          </a:xfrm>
        </p:spPr>
        <p:txBody>
          <a:bodyPr/>
          <a:lstStyle>
            <a:lvl1pPr marL="344488" indent="-344488">
              <a:buSzPct val="100000"/>
              <a:buFontTx/>
              <a:buBlip>
                <a:blip r:embed="rId2"/>
              </a:buBlip>
              <a:defRPr sz="2400"/>
            </a:lvl1pPr>
            <a:lvl2pPr marL="690563" indent="-285750">
              <a:buSzPct val="100000"/>
              <a:defRPr sz="2000"/>
            </a:lvl2pPr>
            <a:lvl3pPr marL="1027113" indent="-171450">
              <a:defRPr sz="18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Subhead One</a:t>
            </a:r>
          </a:p>
          <a:p>
            <a:pPr lvl="1"/>
            <a:r>
              <a:rPr lang="en-US" dirty="0" smtClean="0"/>
              <a:t>Secondary text bullet</a:t>
            </a:r>
          </a:p>
          <a:p>
            <a:pPr lvl="1"/>
            <a:r>
              <a:rPr lang="en-US" dirty="0" smtClean="0"/>
              <a:t>Secondary text bullet</a:t>
            </a:r>
          </a:p>
          <a:p>
            <a:pPr lvl="2"/>
            <a:r>
              <a:rPr lang="en-US" dirty="0" smtClean="0"/>
              <a:t>Third bullet</a:t>
            </a:r>
          </a:p>
          <a:p>
            <a:pPr lvl="0"/>
            <a:r>
              <a:rPr lang="en-US" dirty="0" smtClean="0"/>
              <a:t>Subhead Two</a:t>
            </a:r>
          </a:p>
          <a:p>
            <a:pPr lvl="1"/>
            <a:r>
              <a:rPr lang="en-US" dirty="0" smtClean="0"/>
              <a:t>Secondary text bullet</a:t>
            </a:r>
          </a:p>
          <a:p>
            <a:pPr lvl="1"/>
            <a:r>
              <a:rPr lang="en-US" dirty="0" smtClean="0"/>
              <a:t>Secondary text bullet</a:t>
            </a:r>
          </a:p>
          <a:p>
            <a:pPr lvl="2"/>
            <a:r>
              <a:rPr lang="en-US" dirty="0" smtClean="0"/>
              <a:t>Third bullet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4" hasCustomPrompt="1"/>
          </p:nvPr>
        </p:nvSpPr>
        <p:spPr>
          <a:xfrm>
            <a:off x="569343" y="2234241"/>
            <a:ext cx="3122918" cy="3347049"/>
          </a:xfrm>
        </p:spPr>
        <p:txBody>
          <a:bodyPr/>
          <a:lstStyle>
            <a:lvl1pPr marL="233363" indent="-233363">
              <a:buClr>
                <a:schemeClr val="bg1"/>
              </a:buClr>
              <a:buSzPct val="100000"/>
              <a:buFont typeface="Wingdings" pitchFamily="2" charset="2"/>
              <a:buChar char="§"/>
              <a:defRPr sz="1800" b="1">
                <a:solidFill>
                  <a:schemeClr val="bg1"/>
                </a:solidFill>
              </a:defRPr>
            </a:lvl1pPr>
            <a:lvl2pPr marL="517525" indent="-207963">
              <a:buClr>
                <a:schemeClr val="bg1"/>
              </a:buClr>
              <a:buSzPct val="100000"/>
              <a:buFont typeface="Arial" pitchFamily="34" charset="0"/>
              <a:buChar char="•"/>
              <a:defRPr sz="1400" b="1">
                <a:solidFill>
                  <a:schemeClr val="bg1"/>
                </a:solidFill>
              </a:defRPr>
            </a:lvl2pPr>
            <a:lvl3pPr marL="741363" indent="-144463">
              <a:buClr>
                <a:schemeClr val="bg1"/>
              </a:buClr>
              <a:buSzPct val="100000"/>
              <a:defRPr sz="1000" b="1">
                <a:solidFill>
                  <a:schemeClr val="bg1"/>
                </a:solidFill>
              </a:defRPr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Subhead One</a:t>
            </a:r>
          </a:p>
          <a:p>
            <a:pPr lvl="1"/>
            <a:r>
              <a:rPr lang="en-US" dirty="0" smtClean="0"/>
              <a:t>Secondary text bullet</a:t>
            </a:r>
          </a:p>
          <a:p>
            <a:pPr lvl="1"/>
            <a:r>
              <a:rPr lang="en-US" dirty="0" smtClean="0"/>
              <a:t>Secondary text bullet</a:t>
            </a:r>
          </a:p>
          <a:p>
            <a:pPr lvl="0"/>
            <a:r>
              <a:rPr lang="en-US" dirty="0" smtClean="0"/>
              <a:t>Subhead Two</a:t>
            </a:r>
          </a:p>
          <a:p>
            <a:pPr lvl="1"/>
            <a:r>
              <a:rPr lang="en-US" dirty="0" smtClean="0"/>
              <a:t>Secondary text bullet</a:t>
            </a:r>
          </a:p>
          <a:p>
            <a:pPr lvl="1"/>
            <a:r>
              <a:rPr lang="en-US" dirty="0" smtClean="0"/>
              <a:t>Secondary text bullet</a:t>
            </a:r>
          </a:p>
        </p:txBody>
      </p:sp>
      <p:sp>
        <p:nvSpPr>
          <p:cNvPr id="12" name="Rectangle 11"/>
          <p:cNvSpPr/>
          <p:nvPr userDrawn="1"/>
        </p:nvSpPr>
        <p:spPr bwMode="auto">
          <a:xfrm>
            <a:off x="457200" y="1284781"/>
            <a:ext cx="3347204" cy="725173"/>
          </a:xfrm>
          <a:prstGeom prst="rect">
            <a:avLst/>
          </a:prstGeom>
          <a:solidFill>
            <a:schemeClr val="accent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366713" marR="0" indent="-366713" algn="ctr" defTabSz="976313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40000"/>
              <a:buFontTx/>
              <a:buNone/>
              <a:tabLst/>
            </a:pPr>
            <a:endParaRPr kumimoji="0" lang="en-US" sz="3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1284288"/>
            <a:ext cx="3346450" cy="725487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Add Callout Title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erner - Primary Image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316913" cy="609600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Freeform 3"/>
          <p:cNvSpPr/>
          <p:nvPr userDrawn="1"/>
        </p:nvSpPr>
        <p:spPr bwMode="auto">
          <a:xfrm>
            <a:off x="-1" y="613266"/>
            <a:ext cx="8545513" cy="69850"/>
          </a:xfrm>
          <a:custGeom>
            <a:avLst/>
            <a:gdLst>
              <a:gd name="connsiteX0" fmla="*/ 0 w 9002751"/>
              <a:gd name="connsiteY0" fmla="*/ 944137 h 951571"/>
              <a:gd name="connsiteX1" fmla="*/ 7434 w 9002751"/>
              <a:gd name="connsiteY1" fmla="*/ 0 h 951571"/>
              <a:gd name="connsiteX2" fmla="*/ 9002751 w 9002751"/>
              <a:gd name="connsiteY2" fmla="*/ 7434 h 951571"/>
              <a:gd name="connsiteX3" fmla="*/ 8549268 w 9002751"/>
              <a:gd name="connsiteY3" fmla="*/ 951571 h 951571"/>
              <a:gd name="connsiteX4" fmla="*/ 0 w 9002751"/>
              <a:gd name="connsiteY4" fmla="*/ 944137 h 951571"/>
              <a:gd name="connsiteX0" fmla="*/ 0 w 9002751"/>
              <a:gd name="connsiteY0" fmla="*/ 944137 h 951571"/>
              <a:gd name="connsiteX1" fmla="*/ 7434 w 9002751"/>
              <a:gd name="connsiteY1" fmla="*/ 0 h 951571"/>
              <a:gd name="connsiteX2" fmla="*/ 9002751 w 9002751"/>
              <a:gd name="connsiteY2" fmla="*/ 7434 h 951571"/>
              <a:gd name="connsiteX3" fmla="*/ 8838905 w 9002751"/>
              <a:gd name="connsiteY3" fmla="*/ 951571 h 951571"/>
              <a:gd name="connsiteX4" fmla="*/ 0 w 9002751"/>
              <a:gd name="connsiteY4" fmla="*/ 944137 h 951571"/>
              <a:gd name="connsiteX0" fmla="*/ 0 w 8943601"/>
              <a:gd name="connsiteY0" fmla="*/ 944137 h 951571"/>
              <a:gd name="connsiteX1" fmla="*/ 7434 w 8943601"/>
              <a:gd name="connsiteY1" fmla="*/ 0 h 951571"/>
              <a:gd name="connsiteX2" fmla="*/ 8943601 w 8943601"/>
              <a:gd name="connsiteY2" fmla="*/ 0 h 951571"/>
              <a:gd name="connsiteX3" fmla="*/ 8838905 w 8943601"/>
              <a:gd name="connsiteY3" fmla="*/ 951571 h 951571"/>
              <a:gd name="connsiteX4" fmla="*/ 0 w 8943601"/>
              <a:gd name="connsiteY4" fmla="*/ 944137 h 951571"/>
              <a:gd name="connsiteX0" fmla="*/ 0 w 8943601"/>
              <a:gd name="connsiteY0" fmla="*/ 944137 h 951571"/>
              <a:gd name="connsiteX1" fmla="*/ 7434 w 8943601"/>
              <a:gd name="connsiteY1" fmla="*/ 0 h 951571"/>
              <a:gd name="connsiteX2" fmla="*/ 8943601 w 8943601"/>
              <a:gd name="connsiteY2" fmla="*/ 0 h 951571"/>
              <a:gd name="connsiteX3" fmla="*/ 8877830 w 8943601"/>
              <a:gd name="connsiteY3" fmla="*/ 951571 h 951571"/>
              <a:gd name="connsiteX4" fmla="*/ 0 w 8943601"/>
              <a:gd name="connsiteY4" fmla="*/ 944137 h 951571"/>
              <a:gd name="connsiteX0" fmla="*/ 0 w 8943602"/>
              <a:gd name="connsiteY0" fmla="*/ 944137 h 951571"/>
              <a:gd name="connsiteX1" fmla="*/ 7434 w 8943602"/>
              <a:gd name="connsiteY1" fmla="*/ 0 h 951571"/>
              <a:gd name="connsiteX2" fmla="*/ 8943602 w 8943602"/>
              <a:gd name="connsiteY2" fmla="*/ 0 h 951571"/>
              <a:gd name="connsiteX3" fmla="*/ 8877830 w 8943602"/>
              <a:gd name="connsiteY3" fmla="*/ 951571 h 951571"/>
              <a:gd name="connsiteX4" fmla="*/ 0 w 8943602"/>
              <a:gd name="connsiteY4" fmla="*/ 944137 h 951571"/>
              <a:gd name="connsiteX0" fmla="*/ 0 w 8943602"/>
              <a:gd name="connsiteY0" fmla="*/ 944137 h 951571"/>
              <a:gd name="connsiteX1" fmla="*/ 7434 w 8943602"/>
              <a:gd name="connsiteY1" fmla="*/ 0 h 951571"/>
              <a:gd name="connsiteX2" fmla="*/ 8943602 w 8943602"/>
              <a:gd name="connsiteY2" fmla="*/ 0 h 951571"/>
              <a:gd name="connsiteX3" fmla="*/ 8867213 w 8943602"/>
              <a:gd name="connsiteY3" fmla="*/ 951571 h 951571"/>
              <a:gd name="connsiteX4" fmla="*/ 0 w 8943602"/>
              <a:gd name="connsiteY4" fmla="*/ 944137 h 951571"/>
              <a:gd name="connsiteX0" fmla="*/ 0 w 8943602"/>
              <a:gd name="connsiteY0" fmla="*/ 944137 h 1024987"/>
              <a:gd name="connsiteX1" fmla="*/ 7434 w 8943602"/>
              <a:gd name="connsiteY1" fmla="*/ 0 h 1024987"/>
              <a:gd name="connsiteX2" fmla="*/ 8943602 w 8943602"/>
              <a:gd name="connsiteY2" fmla="*/ 0 h 1024987"/>
              <a:gd name="connsiteX3" fmla="*/ 8902379 w 8943602"/>
              <a:gd name="connsiteY3" fmla="*/ 1024987 h 1024987"/>
              <a:gd name="connsiteX4" fmla="*/ 0 w 8943602"/>
              <a:gd name="connsiteY4" fmla="*/ 944137 h 1024987"/>
              <a:gd name="connsiteX0" fmla="*/ 0 w 8943602"/>
              <a:gd name="connsiteY0" fmla="*/ 944137 h 1024987"/>
              <a:gd name="connsiteX1" fmla="*/ 7434 w 8943602"/>
              <a:gd name="connsiteY1" fmla="*/ 0 h 1024987"/>
              <a:gd name="connsiteX2" fmla="*/ 8943602 w 8943602"/>
              <a:gd name="connsiteY2" fmla="*/ 0 h 1024987"/>
              <a:gd name="connsiteX3" fmla="*/ 8908240 w 8943602"/>
              <a:gd name="connsiteY3" fmla="*/ 1024987 h 1024987"/>
              <a:gd name="connsiteX4" fmla="*/ 0 w 8943602"/>
              <a:gd name="connsiteY4" fmla="*/ 944137 h 1024987"/>
              <a:gd name="connsiteX0" fmla="*/ 8100 w 8936168"/>
              <a:gd name="connsiteY0" fmla="*/ 1024987 h 1024987"/>
              <a:gd name="connsiteX1" fmla="*/ 0 w 8936168"/>
              <a:gd name="connsiteY1" fmla="*/ 0 h 1024987"/>
              <a:gd name="connsiteX2" fmla="*/ 8936168 w 8936168"/>
              <a:gd name="connsiteY2" fmla="*/ 0 h 1024987"/>
              <a:gd name="connsiteX3" fmla="*/ 8900806 w 8936168"/>
              <a:gd name="connsiteY3" fmla="*/ 1024987 h 1024987"/>
              <a:gd name="connsiteX4" fmla="*/ 8100 w 8936168"/>
              <a:gd name="connsiteY4" fmla="*/ 1024987 h 1024987"/>
              <a:gd name="connsiteX0" fmla="*/ 1 w 8928069"/>
              <a:gd name="connsiteY0" fmla="*/ 1025002 h 1025002"/>
              <a:gd name="connsiteX1" fmla="*/ 0 w 8928069"/>
              <a:gd name="connsiteY1" fmla="*/ 0 h 1025002"/>
              <a:gd name="connsiteX2" fmla="*/ 8928069 w 8928069"/>
              <a:gd name="connsiteY2" fmla="*/ 15 h 1025002"/>
              <a:gd name="connsiteX3" fmla="*/ 8892707 w 8928069"/>
              <a:gd name="connsiteY3" fmla="*/ 1025002 h 1025002"/>
              <a:gd name="connsiteX4" fmla="*/ 1 w 8928069"/>
              <a:gd name="connsiteY4" fmla="*/ 1025002 h 1025002"/>
              <a:gd name="connsiteX0" fmla="*/ 1 w 8928068"/>
              <a:gd name="connsiteY0" fmla="*/ 1025002 h 1025002"/>
              <a:gd name="connsiteX1" fmla="*/ 0 w 8928068"/>
              <a:gd name="connsiteY1" fmla="*/ 0 h 1025002"/>
              <a:gd name="connsiteX2" fmla="*/ 8928068 w 8928068"/>
              <a:gd name="connsiteY2" fmla="*/ 0 h 1025002"/>
              <a:gd name="connsiteX3" fmla="*/ 8892707 w 8928068"/>
              <a:gd name="connsiteY3" fmla="*/ 1025002 h 1025002"/>
              <a:gd name="connsiteX4" fmla="*/ 1 w 8928068"/>
              <a:gd name="connsiteY4" fmla="*/ 1025002 h 1025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28068" h="1025002">
                <a:moveTo>
                  <a:pt x="1" y="1025002"/>
                </a:moveTo>
                <a:cubicBezTo>
                  <a:pt x="1" y="683335"/>
                  <a:pt x="0" y="341667"/>
                  <a:pt x="0" y="0"/>
                </a:cubicBezTo>
                <a:lnTo>
                  <a:pt x="8928068" y="0"/>
                </a:lnTo>
                <a:lnTo>
                  <a:pt x="8892707" y="1025002"/>
                </a:lnTo>
                <a:lnTo>
                  <a:pt x="1" y="1025002"/>
                </a:lnTo>
                <a:close/>
              </a:path>
            </a:pathLst>
          </a:custGeom>
          <a:solidFill>
            <a:schemeClr val="accent2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dist="25400" dir="5400000" algn="t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366713" marR="0" indent="-366713" algn="ctr" defTabSz="976313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40000"/>
              <a:buFontTx/>
              <a:buNone/>
              <a:tabLst/>
            </a:pPr>
            <a:endParaRPr kumimoji="0" lang="en-US" sz="3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468313" y="888520"/>
            <a:ext cx="8058150" cy="5785484"/>
          </a:xfrm>
          <a:effectLst>
            <a:innerShdw blurRad="114300">
              <a:prstClr val="black"/>
            </a:innerShdw>
          </a:effectLst>
        </p:spPr>
        <p:txBody>
          <a:bodyPr/>
          <a:lstStyle/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7" name="Rectangle 66"/>
          <p:cNvSpPr>
            <a:spLocks noGrp="1" noChangeArrowheads="1"/>
          </p:cNvSpPr>
          <p:nvPr userDrawn="1"/>
        </p:nvSpPr>
        <p:spPr bwMode="auto">
          <a:xfrm>
            <a:off x="8540904" y="6622248"/>
            <a:ext cx="533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eaLnBrk="0" hangingPunct="0"/>
            <a:fld id="{ED89AE07-C97F-44A6-A614-2F99B440138C}" type="slidenum">
              <a:rPr lang="en-US" sz="1200" b="1">
                <a:solidFill>
                  <a:schemeClr val="bg2"/>
                </a:solidFill>
                <a:latin typeface="+mn-lt"/>
              </a:rPr>
              <a:pPr algn="r" eaLnBrk="0" hangingPunct="0"/>
              <a:t>‹#›</a:t>
            </a:fld>
            <a:endParaRPr lang="en-US" sz="1200" b="1" dirty="0">
              <a:solidFill>
                <a:schemeClr val="bg2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imary 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3" hasCustomPrompt="1"/>
          </p:nvPr>
        </p:nvSpPr>
        <p:spPr>
          <a:xfrm>
            <a:off x="462514" y="1140095"/>
            <a:ext cx="3931920" cy="1603105"/>
          </a:xfrm>
        </p:spPr>
        <p:txBody>
          <a:bodyPr/>
          <a:lstStyle>
            <a:lvl1pPr marL="344488" indent="-344488">
              <a:buSzPct val="100000"/>
              <a:buFontTx/>
              <a:buBlip>
                <a:blip r:embed="rId2"/>
              </a:buBlip>
              <a:defRPr sz="2400"/>
            </a:lvl1pPr>
            <a:lvl2pPr marL="690563" indent="-293688">
              <a:buSzPct val="100000"/>
              <a:defRPr sz="2000"/>
            </a:lvl2pPr>
            <a:lvl3pPr marL="1027113" indent="-171450">
              <a:defRPr sz="18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Subhead One</a:t>
            </a:r>
          </a:p>
          <a:p>
            <a:pPr lvl="1"/>
            <a:r>
              <a:rPr lang="en-US" dirty="0" smtClean="0"/>
              <a:t>Secondary text bullet</a:t>
            </a:r>
          </a:p>
          <a:p>
            <a:pPr lvl="1"/>
            <a:r>
              <a:rPr lang="en-US" dirty="0" smtClean="0"/>
              <a:t>Secondary text bullet</a:t>
            </a:r>
          </a:p>
          <a:p>
            <a:pPr lvl="2"/>
            <a:r>
              <a:rPr lang="en-US" dirty="0" smtClean="0"/>
              <a:t>Third bullet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4" hasCustomPrompt="1"/>
          </p:nvPr>
        </p:nvSpPr>
        <p:spPr>
          <a:xfrm>
            <a:off x="4583054" y="1145847"/>
            <a:ext cx="3931920" cy="1605980"/>
          </a:xfrm>
        </p:spPr>
        <p:txBody>
          <a:bodyPr/>
          <a:lstStyle>
            <a:lvl1pPr marL="344488" indent="-344488">
              <a:buSzPct val="100000"/>
              <a:buFontTx/>
              <a:buBlip>
                <a:blip r:embed="rId2"/>
              </a:buBlip>
              <a:defRPr sz="2400"/>
            </a:lvl1pPr>
            <a:lvl2pPr marL="690563" indent="-293688">
              <a:buSzPct val="100000"/>
              <a:defRPr sz="2000"/>
            </a:lvl2pPr>
            <a:lvl3pPr marL="1027113" indent="-171450">
              <a:defRPr sz="18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Subhead One</a:t>
            </a:r>
          </a:p>
          <a:p>
            <a:pPr lvl="1"/>
            <a:r>
              <a:rPr lang="en-US" dirty="0" smtClean="0"/>
              <a:t>Secondary text bullet</a:t>
            </a:r>
          </a:p>
          <a:p>
            <a:pPr lvl="1"/>
            <a:r>
              <a:rPr lang="en-US" dirty="0" smtClean="0"/>
              <a:t>Secondary text bullet</a:t>
            </a:r>
          </a:p>
          <a:p>
            <a:pPr lvl="2"/>
            <a:r>
              <a:rPr lang="en-US" dirty="0" smtClean="0"/>
              <a:t>Third bullet</a:t>
            </a:r>
          </a:p>
        </p:txBody>
      </p:sp>
      <p:sp>
        <p:nvSpPr>
          <p:cNvPr id="5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468313" y="2958860"/>
            <a:ext cx="8058150" cy="3628880"/>
          </a:xfrm>
          <a:effectLst>
            <a:innerShdw blurRad="114300">
              <a:prstClr val="black"/>
            </a:innerShdw>
          </a:effectLst>
        </p:spPr>
        <p:txBody>
          <a:bodyPr/>
          <a:lstStyle/>
          <a:p>
            <a:r>
              <a:rPr lang="en-US" smtClean="0"/>
              <a:t>Click icon to add picture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erner - Key Message/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rallelogram 6"/>
          <p:cNvSpPr/>
          <p:nvPr userDrawn="1"/>
        </p:nvSpPr>
        <p:spPr bwMode="auto">
          <a:xfrm>
            <a:off x="892834" y="2027208"/>
            <a:ext cx="7668883" cy="2122098"/>
          </a:xfrm>
          <a:prstGeom prst="parallelogram">
            <a:avLst>
              <a:gd name="adj" fmla="val 38821"/>
            </a:avLst>
          </a:prstGeom>
          <a:solidFill>
            <a:srgbClr val="0194D3"/>
          </a:solidFill>
          <a:ln w="9525">
            <a:noFill/>
            <a:round/>
            <a:headEnd/>
            <a:tailEnd/>
          </a:ln>
          <a:effectLst>
            <a:outerShdw blurRad="38100" sx="101000" sy="101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66713" marR="0" indent="-366713" algn="l" defTabSz="9763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40000"/>
              <a:buFontTx/>
              <a:buNone/>
              <a:tabLst/>
            </a:pPr>
            <a:endParaRPr lang="en-US" sz="3600" b="1" kern="1200">
              <a:solidFill>
                <a:schemeClr val="tx1"/>
              </a:solidFill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1759444" y="2871524"/>
            <a:ext cx="5935662" cy="400101"/>
          </a:xfrm>
          <a:solidFill>
            <a:schemeClr val="tx2"/>
          </a:solidFill>
          <a:effectLst>
            <a:outerShdw dist="38100" dir="10800000" algn="r" rotWithShape="0">
              <a:schemeClr val="accent2"/>
            </a:outerShdw>
          </a:effectLst>
        </p:spPr>
        <p:txBody>
          <a:bodyPr anchor="ctr" anchorCtr="0">
            <a:spAutoFit/>
          </a:bodyPr>
          <a:lstStyle>
            <a:lvl1pPr marL="0" indent="0">
              <a:buFont typeface="Arial" pitchFamily="34" charset="0"/>
              <a:buNone/>
              <a:defRPr sz="2000">
                <a:solidFill>
                  <a:schemeClr val="bg1"/>
                </a:solidFill>
                <a:latin typeface="Franklin Gothic Demi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932979" y="4237537"/>
            <a:ext cx="4762131" cy="307768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91440" rIns="0" anchor="t" anchorCtr="0">
            <a:spAutoFit/>
          </a:bodyPr>
          <a:lstStyle>
            <a:lvl1pPr marL="0" indent="0" algn="r">
              <a:buFont typeface="Arial" pitchFamily="34" charset="0"/>
              <a:buNone/>
              <a:defRPr sz="1400" i="1"/>
            </a:lvl1pPr>
          </a:lstStyle>
          <a:p>
            <a:pPr lvl="0"/>
            <a:r>
              <a:rPr lang="en-US" dirty="0" smtClean="0"/>
              <a:t>Click to edit attribution</a:t>
            </a:r>
            <a:endParaRPr lang="en-US" dirty="0"/>
          </a:p>
        </p:txBody>
      </p:sp>
      <p:sp>
        <p:nvSpPr>
          <p:cNvPr id="15" name="Freeform 14"/>
          <p:cNvSpPr/>
          <p:nvPr userDrawn="1"/>
        </p:nvSpPr>
        <p:spPr bwMode="auto">
          <a:xfrm flipH="1" flipV="1">
            <a:off x="0" y="2018581"/>
            <a:ext cx="1475113" cy="2130725"/>
          </a:xfrm>
          <a:custGeom>
            <a:avLst/>
            <a:gdLst>
              <a:gd name="connsiteX0" fmla="*/ 802257 w 1397479"/>
              <a:gd name="connsiteY0" fmla="*/ 0 h 2139351"/>
              <a:gd name="connsiteX1" fmla="*/ 0 w 1397479"/>
              <a:gd name="connsiteY1" fmla="*/ 2139351 h 2139351"/>
              <a:gd name="connsiteX2" fmla="*/ 1354347 w 1397479"/>
              <a:gd name="connsiteY2" fmla="*/ 2139351 h 2139351"/>
              <a:gd name="connsiteX3" fmla="*/ 1397479 w 1397479"/>
              <a:gd name="connsiteY3" fmla="*/ 0 h 2139351"/>
              <a:gd name="connsiteX4" fmla="*/ 802257 w 1397479"/>
              <a:gd name="connsiteY4" fmla="*/ 0 h 2139351"/>
              <a:gd name="connsiteX0" fmla="*/ 802257 w 1397479"/>
              <a:gd name="connsiteY0" fmla="*/ 0 h 2139351"/>
              <a:gd name="connsiteX1" fmla="*/ 0 w 1397479"/>
              <a:gd name="connsiteY1" fmla="*/ 2139351 h 2139351"/>
              <a:gd name="connsiteX2" fmla="*/ 1354347 w 1397479"/>
              <a:gd name="connsiteY2" fmla="*/ 2139351 h 2139351"/>
              <a:gd name="connsiteX3" fmla="*/ 1397479 w 1397479"/>
              <a:gd name="connsiteY3" fmla="*/ 0 h 2139351"/>
              <a:gd name="connsiteX4" fmla="*/ 802257 w 1397479"/>
              <a:gd name="connsiteY4" fmla="*/ 0 h 2139351"/>
              <a:gd name="connsiteX0" fmla="*/ 853671 w 1397479"/>
              <a:gd name="connsiteY0" fmla="*/ 8627 h 2139351"/>
              <a:gd name="connsiteX1" fmla="*/ 0 w 1397479"/>
              <a:gd name="connsiteY1" fmla="*/ 2139351 h 2139351"/>
              <a:gd name="connsiteX2" fmla="*/ 1354347 w 1397479"/>
              <a:gd name="connsiteY2" fmla="*/ 2139351 h 2139351"/>
              <a:gd name="connsiteX3" fmla="*/ 1397479 w 1397479"/>
              <a:gd name="connsiteY3" fmla="*/ 0 h 2139351"/>
              <a:gd name="connsiteX4" fmla="*/ 853671 w 1397479"/>
              <a:gd name="connsiteY4" fmla="*/ 8627 h 2139351"/>
              <a:gd name="connsiteX0" fmla="*/ 853671 w 1397479"/>
              <a:gd name="connsiteY0" fmla="*/ 0 h 2139351"/>
              <a:gd name="connsiteX1" fmla="*/ 0 w 1397479"/>
              <a:gd name="connsiteY1" fmla="*/ 2139351 h 2139351"/>
              <a:gd name="connsiteX2" fmla="*/ 1354347 w 1397479"/>
              <a:gd name="connsiteY2" fmla="*/ 2139351 h 2139351"/>
              <a:gd name="connsiteX3" fmla="*/ 1397479 w 1397479"/>
              <a:gd name="connsiteY3" fmla="*/ 0 h 2139351"/>
              <a:gd name="connsiteX4" fmla="*/ 853671 w 1397479"/>
              <a:gd name="connsiteY4" fmla="*/ 0 h 2139351"/>
              <a:gd name="connsiteX0" fmla="*/ 853671 w 1397479"/>
              <a:gd name="connsiteY0" fmla="*/ 0 h 2139351"/>
              <a:gd name="connsiteX1" fmla="*/ 0 w 1397479"/>
              <a:gd name="connsiteY1" fmla="*/ 2139351 h 2139351"/>
              <a:gd name="connsiteX2" fmla="*/ 1354347 w 1397479"/>
              <a:gd name="connsiteY2" fmla="*/ 2139351 h 2139351"/>
              <a:gd name="connsiteX3" fmla="*/ 1397479 w 1397479"/>
              <a:gd name="connsiteY3" fmla="*/ 0 h 2139351"/>
              <a:gd name="connsiteX4" fmla="*/ 853671 w 1397479"/>
              <a:gd name="connsiteY4" fmla="*/ 0 h 2139351"/>
              <a:gd name="connsiteX0" fmla="*/ 853671 w 1397479"/>
              <a:gd name="connsiteY0" fmla="*/ 0 h 2139351"/>
              <a:gd name="connsiteX1" fmla="*/ 0 w 1397479"/>
              <a:gd name="connsiteY1" fmla="*/ 2130725 h 2139351"/>
              <a:gd name="connsiteX2" fmla="*/ 1354347 w 1397479"/>
              <a:gd name="connsiteY2" fmla="*/ 2139351 h 2139351"/>
              <a:gd name="connsiteX3" fmla="*/ 1397479 w 1397479"/>
              <a:gd name="connsiteY3" fmla="*/ 0 h 2139351"/>
              <a:gd name="connsiteX4" fmla="*/ 853671 w 1397479"/>
              <a:gd name="connsiteY4" fmla="*/ 0 h 2139351"/>
              <a:gd name="connsiteX0" fmla="*/ 853671 w 1397479"/>
              <a:gd name="connsiteY0" fmla="*/ 0 h 2130725"/>
              <a:gd name="connsiteX1" fmla="*/ 0 w 1397479"/>
              <a:gd name="connsiteY1" fmla="*/ 2130725 h 2130725"/>
              <a:gd name="connsiteX2" fmla="*/ 1397479 w 1397479"/>
              <a:gd name="connsiteY2" fmla="*/ 2130725 h 2130725"/>
              <a:gd name="connsiteX3" fmla="*/ 1397479 w 1397479"/>
              <a:gd name="connsiteY3" fmla="*/ 0 h 2130725"/>
              <a:gd name="connsiteX4" fmla="*/ 853671 w 1397479"/>
              <a:gd name="connsiteY4" fmla="*/ 0 h 2130725"/>
              <a:gd name="connsiteX0" fmla="*/ 853671 w 1397479"/>
              <a:gd name="connsiteY0" fmla="*/ 0 h 2130725"/>
              <a:gd name="connsiteX1" fmla="*/ 0 w 1397479"/>
              <a:gd name="connsiteY1" fmla="*/ 2130725 h 2130725"/>
              <a:gd name="connsiteX2" fmla="*/ 1397479 w 1397479"/>
              <a:gd name="connsiteY2" fmla="*/ 2130725 h 2130725"/>
              <a:gd name="connsiteX3" fmla="*/ 1397479 w 1397479"/>
              <a:gd name="connsiteY3" fmla="*/ 0 h 2130725"/>
              <a:gd name="connsiteX4" fmla="*/ 853671 w 1397479"/>
              <a:gd name="connsiteY4" fmla="*/ 0 h 2130725"/>
              <a:gd name="connsiteX0" fmla="*/ 788976 w 1397479"/>
              <a:gd name="connsiteY0" fmla="*/ 0 h 2130725"/>
              <a:gd name="connsiteX1" fmla="*/ 0 w 1397479"/>
              <a:gd name="connsiteY1" fmla="*/ 2130725 h 2130725"/>
              <a:gd name="connsiteX2" fmla="*/ 1397479 w 1397479"/>
              <a:gd name="connsiteY2" fmla="*/ 2130725 h 2130725"/>
              <a:gd name="connsiteX3" fmla="*/ 1397479 w 1397479"/>
              <a:gd name="connsiteY3" fmla="*/ 0 h 2130725"/>
              <a:gd name="connsiteX4" fmla="*/ 788976 w 1397479"/>
              <a:gd name="connsiteY4" fmla="*/ 0 h 2130725"/>
              <a:gd name="connsiteX0" fmla="*/ 866610 w 1475113"/>
              <a:gd name="connsiteY0" fmla="*/ 0 h 2130725"/>
              <a:gd name="connsiteX1" fmla="*/ 0 w 1475113"/>
              <a:gd name="connsiteY1" fmla="*/ 2130725 h 2130725"/>
              <a:gd name="connsiteX2" fmla="*/ 1475113 w 1475113"/>
              <a:gd name="connsiteY2" fmla="*/ 2130725 h 2130725"/>
              <a:gd name="connsiteX3" fmla="*/ 1475113 w 1475113"/>
              <a:gd name="connsiteY3" fmla="*/ 0 h 2130725"/>
              <a:gd name="connsiteX4" fmla="*/ 866610 w 1475113"/>
              <a:gd name="connsiteY4" fmla="*/ 0 h 2130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5113" h="2130725">
                <a:moveTo>
                  <a:pt x="866610" y="0"/>
                </a:moveTo>
                <a:lnTo>
                  <a:pt x="0" y="2130725"/>
                </a:lnTo>
                <a:lnTo>
                  <a:pt x="1475113" y="2130725"/>
                </a:lnTo>
                <a:lnTo>
                  <a:pt x="1475113" y="0"/>
                </a:lnTo>
                <a:lnTo>
                  <a:pt x="866610" y="0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  <a:effectLst>
            <a:outerShdw blurRad="38100" dist="38100" algn="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66713" marR="0" indent="-366713" algn="l" defTabSz="9763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40000"/>
              <a:buFontTx/>
              <a:buNone/>
              <a:tabLst/>
            </a:pPr>
            <a:endParaRPr lang="en-US" sz="3600" b="1" kern="1200">
              <a:solidFill>
                <a:schemeClr val="tx1"/>
              </a:solidFill>
              <a:latin typeface="Arial" charset="0"/>
              <a:ea typeface="ＭＳ Ｐゴシック" charset="-128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erner - Key Message/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 bwMode="auto">
          <a:xfrm>
            <a:off x="-1" y="0"/>
            <a:ext cx="9144001" cy="3493697"/>
          </a:xfrm>
          <a:prstGeom prst="rect">
            <a:avLst/>
          </a:prstGeom>
          <a:solidFill>
            <a:srgbClr val="0194D3"/>
          </a:solidFill>
          <a:ln w="9525">
            <a:noFill/>
            <a:round/>
            <a:headEnd/>
            <a:tailEnd/>
          </a:ln>
          <a:effectLst>
            <a:outerShdw blurRad="381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66713" marR="0" indent="-366713" defTabSz="976313" eaLnBrk="1" latinLnBrk="0" hangingPunct="1">
              <a:lnSpc>
                <a:spcPct val="100000"/>
              </a:lnSpc>
              <a:buClrTx/>
              <a:buSzPct val="140000"/>
              <a:buFontTx/>
              <a:buNone/>
              <a:tabLst/>
            </a:pPr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1604169" y="1581289"/>
            <a:ext cx="5935662" cy="461657"/>
          </a:xfrm>
          <a:solidFill>
            <a:schemeClr val="tx2"/>
          </a:solidFill>
          <a:effectLst>
            <a:outerShdw dist="38100" dir="10800000" algn="r" rotWithShape="0">
              <a:schemeClr val="accent2"/>
            </a:outerShdw>
          </a:effectLst>
        </p:spPr>
        <p:txBody>
          <a:bodyPr anchor="ctr" anchorCtr="0">
            <a:spAutoFit/>
          </a:bodyPr>
          <a:lstStyle>
            <a:lvl1pPr marL="0" indent="0">
              <a:buFont typeface="Arial" pitchFamily="34" charset="0"/>
              <a:buNone/>
              <a:defRPr>
                <a:solidFill>
                  <a:schemeClr val="bg1"/>
                </a:solidFill>
                <a:latin typeface="Franklin Gothic Demi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6004328" y="3719946"/>
            <a:ext cx="2467156" cy="307768"/>
          </a:xfrm>
          <a:solidFill>
            <a:schemeClr val="bg1"/>
          </a:solidFill>
          <a:effectLst>
            <a:outerShdw dist="12700" algn="l" rotWithShape="0">
              <a:schemeClr val="tx2"/>
            </a:outerShdw>
          </a:effectLst>
        </p:spPr>
        <p:txBody>
          <a:bodyPr wrap="square" anchor="t" anchorCtr="0">
            <a:spAutoFit/>
          </a:bodyPr>
          <a:lstStyle>
            <a:lvl1pPr marL="0" indent="0" algn="r">
              <a:buFont typeface="Arial" pitchFamily="34" charset="0"/>
              <a:buNone/>
              <a:defRPr sz="1400" i="1"/>
            </a:lvl1pPr>
          </a:lstStyle>
          <a:p>
            <a:pPr lvl="0"/>
            <a:r>
              <a:rPr lang="en-US" dirty="0" smtClean="0"/>
              <a:t>Click to edit attribution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erner - 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19"/>
          <p:cNvSpPr>
            <a:spLocks/>
          </p:cNvSpPr>
          <p:nvPr/>
        </p:nvSpPr>
        <p:spPr bwMode="auto">
          <a:xfrm flipH="1" flipV="1">
            <a:off x="0" y="6659592"/>
            <a:ext cx="9211159" cy="250164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163"/>
              </a:cxn>
              <a:cxn ang="0">
                <a:pos x="3331" y="163"/>
              </a:cxn>
              <a:cxn ang="0">
                <a:pos x="3402" y="0"/>
              </a:cxn>
              <a:cxn ang="0">
                <a:pos x="0" y="0"/>
              </a:cxn>
            </a:cxnLst>
            <a:rect l="0" t="0" r="r" b="b"/>
            <a:pathLst>
              <a:path w="3402" h="163">
                <a:moveTo>
                  <a:pt x="0" y="0"/>
                </a:moveTo>
                <a:lnTo>
                  <a:pt x="0" y="163"/>
                </a:lnTo>
                <a:lnTo>
                  <a:pt x="3331" y="163"/>
                </a:lnTo>
                <a:lnTo>
                  <a:pt x="3402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19050">
            <a:noFill/>
            <a:round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66713" indent="-366713" defTabSz="976313">
              <a:buSzPct val="140000"/>
            </a:pPr>
            <a:endParaRPr lang="en-US"/>
          </a:p>
        </p:txBody>
      </p:sp>
      <p:sp>
        <p:nvSpPr>
          <p:cNvPr id="1027" name="Rectangle 41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204332"/>
            <a:ext cx="8450263" cy="47392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1" tIns="45716" rIns="91431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Subhead One</a:t>
            </a:r>
          </a:p>
          <a:p>
            <a:pPr lvl="1"/>
            <a:r>
              <a:rPr lang="en-US" dirty="0" smtClean="0"/>
              <a:t>Secondary text bullet</a:t>
            </a:r>
          </a:p>
          <a:p>
            <a:pPr lvl="1"/>
            <a:r>
              <a:rPr lang="en-US" dirty="0" smtClean="0"/>
              <a:t>Secondary text bullet</a:t>
            </a:r>
          </a:p>
          <a:p>
            <a:pPr lvl="2"/>
            <a:r>
              <a:rPr lang="en-US" dirty="0" smtClean="0"/>
              <a:t>Third bullet</a:t>
            </a:r>
          </a:p>
          <a:p>
            <a:pPr lvl="0"/>
            <a:r>
              <a:rPr lang="en-US" dirty="0" smtClean="0"/>
              <a:t>Subhead Two</a:t>
            </a:r>
          </a:p>
          <a:p>
            <a:pPr lvl="1"/>
            <a:r>
              <a:rPr lang="en-US" dirty="0" smtClean="0"/>
              <a:t>Secondary text bullet</a:t>
            </a:r>
          </a:p>
          <a:p>
            <a:pPr lvl="1"/>
            <a:r>
              <a:rPr lang="en-US" dirty="0" smtClean="0"/>
              <a:t>Secondary text bullet</a:t>
            </a:r>
          </a:p>
          <a:p>
            <a:pPr lvl="2"/>
            <a:r>
              <a:rPr lang="en-US" dirty="0" smtClean="0"/>
              <a:t>Third bullet</a:t>
            </a:r>
          </a:p>
        </p:txBody>
      </p:sp>
      <p:sp>
        <p:nvSpPr>
          <p:cNvPr id="1029" name="Rectangle 51"/>
          <p:cNvSpPr>
            <a:spLocks noGrp="1" noChangeArrowheads="1"/>
          </p:cNvSpPr>
          <p:nvPr>
            <p:ph type="title"/>
          </p:nvPr>
        </p:nvSpPr>
        <p:spPr bwMode="white">
          <a:xfrm>
            <a:off x="228600" y="197004"/>
            <a:ext cx="8316913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5570" tIns="42785" rIns="85570" bIns="4278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 dirty="0" smtClean="0"/>
          </a:p>
        </p:txBody>
      </p:sp>
      <p:sp>
        <p:nvSpPr>
          <p:cNvPr id="19" name="Freeform 18"/>
          <p:cNvSpPr/>
          <p:nvPr/>
        </p:nvSpPr>
        <p:spPr bwMode="auto">
          <a:xfrm>
            <a:off x="-1" y="932443"/>
            <a:ext cx="8545513" cy="69850"/>
          </a:xfrm>
          <a:custGeom>
            <a:avLst/>
            <a:gdLst>
              <a:gd name="connsiteX0" fmla="*/ 0 w 9002751"/>
              <a:gd name="connsiteY0" fmla="*/ 944137 h 951571"/>
              <a:gd name="connsiteX1" fmla="*/ 7434 w 9002751"/>
              <a:gd name="connsiteY1" fmla="*/ 0 h 951571"/>
              <a:gd name="connsiteX2" fmla="*/ 9002751 w 9002751"/>
              <a:gd name="connsiteY2" fmla="*/ 7434 h 951571"/>
              <a:gd name="connsiteX3" fmla="*/ 8549268 w 9002751"/>
              <a:gd name="connsiteY3" fmla="*/ 951571 h 951571"/>
              <a:gd name="connsiteX4" fmla="*/ 0 w 9002751"/>
              <a:gd name="connsiteY4" fmla="*/ 944137 h 951571"/>
              <a:gd name="connsiteX0" fmla="*/ 0 w 9002751"/>
              <a:gd name="connsiteY0" fmla="*/ 944137 h 951571"/>
              <a:gd name="connsiteX1" fmla="*/ 7434 w 9002751"/>
              <a:gd name="connsiteY1" fmla="*/ 0 h 951571"/>
              <a:gd name="connsiteX2" fmla="*/ 9002751 w 9002751"/>
              <a:gd name="connsiteY2" fmla="*/ 7434 h 951571"/>
              <a:gd name="connsiteX3" fmla="*/ 8838905 w 9002751"/>
              <a:gd name="connsiteY3" fmla="*/ 951571 h 951571"/>
              <a:gd name="connsiteX4" fmla="*/ 0 w 9002751"/>
              <a:gd name="connsiteY4" fmla="*/ 944137 h 951571"/>
              <a:gd name="connsiteX0" fmla="*/ 0 w 8943601"/>
              <a:gd name="connsiteY0" fmla="*/ 944137 h 951571"/>
              <a:gd name="connsiteX1" fmla="*/ 7434 w 8943601"/>
              <a:gd name="connsiteY1" fmla="*/ 0 h 951571"/>
              <a:gd name="connsiteX2" fmla="*/ 8943601 w 8943601"/>
              <a:gd name="connsiteY2" fmla="*/ 0 h 951571"/>
              <a:gd name="connsiteX3" fmla="*/ 8838905 w 8943601"/>
              <a:gd name="connsiteY3" fmla="*/ 951571 h 951571"/>
              <a:gd name="connsiteX4" fmla="*/ 0 w 8943601"/>
              <a:gd name="connsiteY4" fmla="*/ 944137 h 951571"/>
              <a:gd name="connsiteX0" fmla="*/ 0 w 8943601"/>
              <a:gd name="connsiteY0" fmla="*/ 944137 h 951571"/>
              <a:gd name="connsiteX1" fmla="*/ 7434 w 8943601"/>
              <a:gd name="connsiteY1" fmla="*/ 0 h 951571"/>
              <a:gd name="connsiteX2" fmla="*/ 8943601 w 8943601"/>
              <a:gd name="connsiteY2" fmla="*/ 0 h 951571"/>
              <a:gd name="connsiteX3" fmla="*/ 8877830 w 8943601"/>
              <a:gd name="connsiteY3" fmla="*/ 951571 h 951571"/>
              <a:gd name="connsiteX4" fmla="*/ 0 w 8943601"/>
              <a:gd name="connsiteY4" fmla="*/ 944137 h 951571"/>
              <a:gd name="connsiteX0" fmla="*/ 0 w 8943602"/>
              <a:gd name="connsiteY0" fmla="*/ 944137 h 951571"/>
              <a:gd name="connsiteX1" fmla="*/ 7434 w 8943602"/>
              <a:gd name="connsiteY1" fmla="*/ 0 h 951571"/>
              <a:gd name="connsiteX2" fmla="*/ 8943602 w 8943602"/>
              <a:gd name="connsiteY2" fmla="*/ 0 h 951571"/>
              <a:gd name="connsiteX3" fmla="*/ 8877830 w 8943602"/>
              <a:gd name="connsiteY3" fmla="*/ 951571 h 951571"/>
              <a:gd name="connsiteX4" fmla="*/ 0 w 8943602"/>
              <a:gd name="connsiteY4" fmla="*/ 944137 h 951571"/>
              <a:gd name="connsiteX0" fmla="*/ 0 w 8943602"/>
              <a:gd name="connsiteY0" fmla="*/ 944137 h 951571"/>
              <a:gd name="connsiteX1" fmla="*/ 7434 w 8943602"/>
              <a:gd name="connsiteY1" fmla="*/ 0 h 951571"/>
              <a:gd name="connsiteX2" fmla="*/ 8943602 w 8943602"/>
              <a:gd name="connsiteY2" fmla="*/ 0 h 951571"/>
              <a:gd name="connsiteX3" fmla="*/ 8867213 w 8943602"/>
              <a:gd name="connsiteY3" fmla="*/ 951571 h 951571"/>
              <a:gd name="connsiteX4" fmla="*/ 0 w 8943602"/>
              <a:gd name="connsiteY4" fmla="*/ 944137 h 951571"/>
              <a:gd name="connsiteX0" fmla="*/ 0 w 8943602"/>
              <a:gd name="connsiteY0" fmla="*/ 944137 h 1024987"/>
              <a:gd name="connsiteX1" fmla="*/ 7434 w 8943602"/>
              <a:gd name="connsiteY1" fmla="*/ 0 h 1024987"/>
              <a:gd name="connsiteX2" fmla="*/ 8943602 w 8943602"/>
              <a:gd name="connsiteY2" fmla="*/ 0 h 1024987"/>
              <a:gd name="connsiteX3" fmla="*/ 8902379 w 8943602"/>
              <a:gd name="connsiteY3" fmla="*/ 1024987 h 1024987"/>
              <a:gd name="connsiteX4" fmla="*/ 0 w 8943602"/>
              <a:gd name="connsiteY4" fmla="*/ 944137 h 1024987"/>
              <a:gd name="connsiteX0" fmla="*/ 0 w 8943602"/>
              <a:gd name="connsiteY0" fmla="*/ 944137 h 1024987"/>
              <a:gd name="connsiteX1" fmla="*/ 7434 w 8943602"/>
              <a:gd name="connsiteY1" fmla="*/ 0 h 1024987"/>
              <a:gd name="connsiteX2" fmla="*/ 8943602 w 8943602"/>
              <a:gd name="connsiteY2" fmla="*/ 0 h 1024987"/>
              <a:gd name="connsiteX3" fmla="*/ 8908240 w 8943602"/>
              <a:gd name="connsiteY3" fmla="*/ 1024987 h 1024987"/>
              <a:gd name="connsiteX4" fmla="*/ 0 w 8943602"/>
              <a:gd name="connsiteY4" fmla="*/ 944137 h 1024987"/>
              <a:gd name="connsiteX0" fmla="*/ 8100 w 8936168"/>
              <a:gd name="connsiteY0" fmla="*/ 1024987 h 1024987"/>
              <a:gd name="connsiteX1" fmla="*/ 0 w 8936168"/>
              <a:gd name="connsiteY1" fmla="*/ 0 h 1024987"/>
              <a:gd name="connsiteX2" fmla="*/ 8936168 w 8936168"/>
              <a:gd name="connsiteY2" fmla="*/ 0 h 1024987"/>
              <a:gd name="connsiteX3" fmla="*/ 8900806 w 8936168"/>
              <a:gd name="connsiteY3" fmla="*/ 1024987 h 1024987"/>
              <a:gd name="connsiteX4" fmla="*/ 8100 w 8936168"/>
              <a:gd name="connsiteY4" fmla="*/ 1024987 h 1024987"/>
              <a:gd name="connsiteX0" fmla="*/ 1 w 8928069"/>
              <a:gd name="connsiteY0" fmla="*/ 1025002 h 1025002"/>
              <a:gd name="connsiteX1" fmla="*/ 0 w 8928069"/>
              <a:gd name="connsiteY1" fmla="*/ 0 h 1025002"/>
              <a:gd name="connsiteX2" fmla="*/ 8928069 w 8928069"/>
              <a:gd name="connsiteY2" fmla="*/ 15 h 1025002"/>
              <a:gd name="connsiteX3" fmla="*/ 8892707 w 8928069"/>
              <a:gd name="connsiteY3" fmla="*/ 1025002 h 1025002"/>
              <a:gd name="connsiteX4" fmla="*/ 1 w 8928069"/>
              <a:gd name="connsiteY4" fmla="*/ 1025002 h 1025002"/>
              <a:gd name="connsiteX0" fmla="*/ 1 w 8928068"/>
              <a:gd name="connsiteY0" fmla="*/ 1025002 h 1025002"/>
              <a:gd name="connsiteX1" fmla="*/ 0 w 8928068"/>
              <a:gd name="connsiteY1" fmla="*/ 0 h 1025002"/>
              <a:gd name="connsiteX2" fmla="*/ 8928068 w 8928068"/>
              <a:gd name="connsiteY2" fmla="*/ 0 h 1025002"/>
              <a:gd name="connsiteX3" fmla="*/ 8892707 w 8928068"/>
              <a:gd name="connsiteY3" fmla="*/ 1025002 h 1025002"/>
              <a:gd name="connsiteX4" fmla="*/ 1 w 8928068"/>
              <a:gd name="connsiteY4" fmla="*/ 1025002 h 1025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28068" h="1025002">
                <a:moveTo>
                  <a:pt x="1" y="1025002"/>
                </a:moveTo>
                <a:cubicBezTo>
                  <a:pt x="1" y="683335"/>
                  <a:pt x="0" y="341667"/>
                  <a:pt x="0" y="0"/>
                </a:cubicBezTo>
                <a:lnTo>
                  <a:pt x="8928068" y="0"/>
                </a:lnTo>
                <a:lnTo>
                  <a:pt x="8892707" y="1025002"/>
                </a:lnTo>
                <a:lnTo>
                  <a:pt x="1" y="1025002"/>
                </a:lnTo>
                <a:close/>
              </a:path>
            </a:pathLst>
          </a:custGeom>
          <a:solidFill>
            <a:schemeClr val="accent2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dist="25400" dir="5400000" algn="t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366713" marR="0" indent="-366713" algn="ctr" defTabSz="976313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40000"/>
              <a:buFontTx/>
              <a:buNone/>
              <a:tabLst/>
            </a:pPr>
            <a:endParaRPr kumimoji="0" lang="en-US" sz="3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7004" y="6676910"/>
            <a:ext cx="8763000" cy="18466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spcBef>
                <a:spcPct val="20000"/>
              </a:spcBef>
              <a:buSzPct val="140000"/>
            </a:pPr>
            <a:r>
              <a:rPr lang="en-US" sz="600" b="0" dirty="0">
                <a:solidFill>
                  <a:schemeClr val="bg1"/>
                </a:solidFill>
                <a:latin typeface="+mn-lt"/>
                <a:cs typeface="Arial" charset="0"/>
              </a:rPr>
              <a:t>© </a:t>
            </a:r>
            <a:r>
              <a:rPr lang="en-US" sz="600" b="0" dirty="0" smtClean="0">
                <a:solidFill>
                  <a:schemeClr val="bg1"/>
                </a:solidFill>
                <a:latin typeface="+mn-lt"/>
                <a:cs typeface="Arial" charset="0"/>
              </a:rPr>
              <a:t>2011 </a:t>
            </a:r>
            <a:r>
              <a:rPr lang="en-US" sz="600" b="0" dirty="0">
                <a:solidFill>
                  <a:schemeClr val="bg1"/>
                </a:solidFill>
                <a:latin typeface="+mn-lt"/>
                <a:cs typeface="Arial" charset="0"/>
              </a:rPr>
              <a:t>Cerner Corporation. All rights reserved. This document contains Cerner confidential and/or proprietary information which may not be reproduced or transmitted without the express written consent of </a:t>
            </a:r>
            <a:r>
              <a:rPr lang="en-US" sz="600" b="0" dirty="0" smtClean="0">
                <a:solidFill>
                  <a:schemeClr val="bg1"/>
                </a:solidFill>
                <a:latin typeface="+mn-lt"/>
                <a:cs typeface="Arial" charset="0"/>
              </a:rPr>
              <a:t>Cerner.</a:t>
            </a:r>
            <a:endParaRPr lang="en-US" sz="600" b="0" dirty="0">
              <a:solidFill>
                <a:schemeClr val="bg1"/>
              </a:solidFill>
              <a:latin typeface="+mn-lt"/>
              <a:cs typeface="Arial" charset="0"/>
            </a:endParaRPr>
          </a:p>
        </p:txBody>
      </p:sp>
      <p:sp>
        <p:nvSpPr>
          <p:cNvPr id="1090" name="Rectangle 66"/>
          <p:cNvSpPr>
            <a:spLocks noGrp="1" noChangeArrowheads="1"/>
          </p:cNvSpPr>
          <p:nvPr/>
        </p:nvSpPr>
        <p:spPr bwMode="auto">
          <a:xfrm>
            <a:off x="8540904" y="6622248"/>
            <a:ext cx="533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eaLnBrk="0" hangingPunct="0"/>
            <a:fld id="{ED89AE07-C97F-44A6-A614-2F99B440138C}" type="slidenum">
              <a:rPr lang="en-US" sz="1200" b="1">
                <a:solidFill>
                  <a:schemeClr val="bg1"/>
                </a:solidFill>
                <a:latin typeface="+mn-lt"/>
              </a:rPr>
              <a:pPr algn="r" eaLnBrk="0" hangingPunct="0"/>
              <a:t>‹#›</a:t>
            </a:fld>
            <a:endParaRPr lang="en-US" sz="12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908633" y="6338455"/>
            <a:ext cx="13161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dirty="0" smtClean="0">
                <a:solidFill>
                  <a:schemeClr val="tx1"/>
                </a:solidFill>
                <a:latin typeface="Franklin Gothic Demi"/>
                <a:cs typeface="Franklin Gothic Demi"/>
              </a:rPr>
              <a:t>CHC</a:t>
            </a:r>
            <a:r>
              <a:rPr lang="en-US" sz="1400" b="0" baseline="0" dirty="0" smtClean="0">
                <a:solidFill>
                  <a:schemeClr val="tx1"/>
                </a:solidFill>
                <a:latin typeface="Franklin Gothic Demi"/>
                <a:cs typeface="Franklin Gothic Demi"/>
              </a:rPr>
              <a:t> 2011</a:t>
            </a:r>
            <a:endParaRPr lang="en-US" sz="1400" b="0" dirty="0">
              <a:solidFill>
                <a:schemeClr val="tx1"/>
              </a:solidFill>
              <a:latin typeface="Franklin Gothic Demi"/>
              <a:cs typeface="Franklin Gothic Dem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7" r:id="rId2"/>
    <p:sldLayoutId id="2147483685" r:id="rId3"/>
    <p:sldLayoutId id="2147483696" r:id="rId4"/>
    <p:sldLayoutId id="2147483703" r:id="rId5"/>
    <p:sldLayoutId id="2147483705" r:id="rId6"/>
    <p:sldLayoutId id="2147483702" r:id="rId7"/>
    <p:sldLayoutId id="2147483699" r:id="rId8"/>
    <p:sldLayoutId id="2147483704" r:id="rId9"/>
    <p:sldLayoutId id="2147483701" r:id="rId10"/>
    <p:sldLayoutId id="2147483700" r:id="rId11"/>
    <p:sldLayoutId id="2147483698" r:id="rId12"/>
  </p:sldLayoutIdLst>
  <p:transition>
    <p:fade/>
  </p:transition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2">
              <a:lumMod val="75000"/>
              <a:lumOff val="25000"/>
            </a:schemeClr>
          </a:solidFill>
          <a:latin typeface="Franklin Gothic Demi" pitchFamily="34" charset="0"/>
          <a:ea typeface="ＭＳ Ｐゴシック" pitchFamily="-112" charset="-128"/>
          <a:cs typeface="Franklin Gothic Demi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Franklin Gothic Demi" charset="0"/>
          <a:ea typeface="ＭＳ Ｐゴシック" pitchFamily="-112" charset="-128"/>
          <a:cs typeface="ＭＳ Ｐゴシック" pitchFamily="-112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Franklin Gothic Demi" charset="0"/>
          <a:ea typeface="ＭＳ Ｐゴシック" pitchFamily="-112" charset="-128"/>
          <a:cs typeface="ＭＳ Ｐゴシック" pitchFamily="-112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Franklin Gothic Demi" charset="0"/>
          <a:ea typeface="ＭＳ Ｐゴシック" pitchFamily="-112" charset="-128"/>
          <a:cs typeface="ＭＳ Ｐゴシック" pitchFamily="-112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Franklin Gothic Demi" charset="0"/>
          <a:ea typeface="ＭＳ Ｐゴシック" pitchFamily="-112" charset="-128"/>
          <a:cs typeface="ＭＳ Ｐゴシック" pitchFamily="-112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Franklin Gothic Demi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Franklin Gothic Demi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Franklin Gothic Demi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Franklin Gothic Demi" charset="0"/>
        </a:defRPr>
      </a:lvl9pPr>
    </p:titleStyle>
    <p:bodyStyle>
      <a:lvl1pPr marL="344488" indent="-344488" algn="l" rtl="0" eaLnBrk="1" fontAlgn="base" hangingPunct="1">
        <a:spcBef>
          <a:spcPct val="20000"/>
        </a:spcBef>
        <a:spcAft>
          <a:spcPct val="0"/>
        </a:spcAft>
        <a:buClr>
          <a:srgbClr val="3294D3"/>
        </a:buClr>
        <a:buSzPct val="100000"/>
        <a:buFontTx/>
        <a:buBlip>
          <a:blip r:embed="rId14"/>
        </a:buBlip>
        <a:defRPr sz="2400">
          <a:solidFill>
            <a:schemeClr val="bg2">
              <a:lumMod val="75000"/>
              <a:lumOff val="25000"/>
            </a:schemeClr>
          </a:solidFill>
          <a:latin typeface="Franklin Gothic Demi" pitchFamily="34" charset="0"/>
          <a:ea typeface="ＭＳ Ｐゴシック" pitchFamily="-112" charset="-128"/>
          <a:cs typeface="Franklin Gothic Demi" pitchFamily="34" charset="0"/>
        </a:defRPr>
      </a:lvl1pPr>
      <a:lvl2pPr marL="690563" indent="-268288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100000"/>
        <a:buFontTx/>
        <a:buBlip>
          <a:blip r:embed="rId15"/>
        </a:buBlip>
        <a:defRPr sz="2000" baseline="0">
          <a:solidFill>
            <a:schemeClr val="bg2">
              <a:lumMod val="75000"/>
              <a:lumOff val="25000"/>
            </a:schemeClr>
          </a:solidFill>
          <a:latin typeface="+mn-lt"/>
          <a:ea typeface="ＭＳ Ｐゴシック" charset="-128"/>
          <a:cs typeface="Gill Sans"/>
        </a:defRPr>
      </a:lvl2pPr>
      <a:lvl3pPr marL="1027113" indent="-1714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100000"/>
        <a:buFont typeface="Arial" pitchFamily="34" charset="0"/>
        <a:buChar char="•"/>
        <a:defRPr sz="1800" i="1">
          <a:solidFill>
            <a:schemeClr val="bg2">
              <a:lumMod val="75000"/>
              <a:lumOff val="25000"/>
            </a:schemeClr>
          </a:solidFill>
          <a:latin typeface="+mn-lt"/>
          <a:ea typeface="ＭＳ Ｐゴシック" charset="-128"/>
          <a:cs typeface="Gill Sans"/>
        </a:defRPr>
      </a:lvl3pPr>
      <a:lvl4pPr marL="1371600" indent="-242888" algn="l" rtl="0" eaLnBrk="1" fontAlgn="base" hangingPunct="1">
        <a:spcBef>
          <a:spcPct val="20000"/>
        </a:spcBef>
        <a:spcAft>
          <a:spcPct val="0"/>
        </a:spcAft>
        <a:buClr>
          <a:schemeClr val="bg2">
            <a:lumMod val="75000"/>
            <a:lumOff val="25000"/>
          </a:schemeClr>
        </a:buClr>
        <a:buFont typeface="Webdings" pitchFamily="18" charset="2"/>
        <a:buChar char="4"/>
        <a:defRPr sz="1400">
          <a:solidFill>
            <a:schemeClr val="bg2">
              <a:lumMod val="75000"/>
              <a:lumOff val="25000"/>
            </a:schemeClr>
          </a:solidFill>
          <a:latin typeface="+mn-lt"/>
          <a:ea typeface="ＭＳ Ｐゴシック" charset="-128"/>
          <a:cs typeface="Gill Sans"/>
        </a:defRPr>
      </a:lvl4pPr>
      <a:lvl5pPr marL="1714500" indent="-228600" algn="l" rtl="0" eaLnBrk="1" fontAlgn="base" hangingPunct="1">
        <a:spcBef>
          <a:spcPct val="20000"/>
        </a:spcBef>
        <a:spcAft>
          <a:spcPct val="0"/>
        </a:spcAft>
        <a:buClr>
          <a:schemeClr val="bg2">
            <a:lumMod val="75000"/>
            <a:lumOff val="25000"/>
          </a:schemeClr>
        </a:buClr>
        <a:buFont typeface="Wingdings" pitchFamily="2" charset="2"/>
        <a:buChar char="§"/>
        <a:defRPr sz="1200">
          <a:solidFill>
            <a:schemeClr val="bg2">
              <a:lumMod val="75000"/>
              <a:lumOff val="25000"/>
            </a:schemeClr>
          </a:solidFill>
          <a:latin typeface="+mn-lt"/>
          <a:ea typeface="ＭＳ Ｐゴシック" charset="-128"/>
          <a:cs typeface="Gill Sans"/>
        </a:defRPr>
      </a:lvl5pPr>
      <a:lvl6pPr marL="25781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charset="2"/>
        <a:buChar char="§"/>
        <a:defRPr sz="1200">
          <a:solidFill>
            <a:srgbClr val="232D64"/>
          </a:solidFill>
          <a:latin typeface="Franklin Gothic Medium" charset="0"/>
          <a:ea typeface="ＭＳ Ｐゴシック" charset="-128"/>
        </a:defRPr>
      </a:lvl6pPr>
      <a:lvl7pPr marL="30353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charset="2"/>
        <a:buChar char="§"/>
        <a:defRPr sz="1200">
          <a:solidFill>
            <a:srgbClr val="232D64"/>
          </a:solidFill>
          <a:latin typeface="Franklin Gothic Medium" charset="0"/>
          <a:ea typeface="ＭＳ Ｐゴシック" charset="-128"/>
        </a:defRPr>
      </a:lvl7pPr>
      <a:lvl8pPr marL="34925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charset="2"/>
        <a:buChar char="§"/>
        <a:defRPr sz="1200">
          <a:solidFill>
            <a:srgbClr val="232D64"/>
          </a:solidFill>
          <a:latin typeface="Franklin Gothic Medium" charset="0"/>
          <a:ea typeface="ＭＳ Ｐゴシック" charset="-128"/>
        </a:defRPr>
      </a:lvl8pPr>
      <a:lvl9pPr marL="39497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charset="2"/>
        <a:buChar char="§"/>
        <a:defRPr sz="1200">
          <a:solidFill>
            <a:srgbClr val="232D64"/>
          </a:solidFill>
          <a:latin typeface="Franklin Gothic Medium" charset="0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1.v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2.v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3.v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8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8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4.v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9701" y="461600"/>
            <a:ext cx="7438845" cy="1362582"/>
          </a:xfrm>
        </p:spPr>
        <p:txBody>
          <a:bodyPr/>
          <a:lstStyle/>
          <a:p>
            <a:r>
              <a:rPr lang="en-US" sz="3200" dirty="0" smtClean="0"/>
              <a:t>Key PharmNet and Medication Related Tables and Fields: Where does all the data go when I click Sign or Submit? </a:t>
            </a:r>
            <a:endParaRPr lang="en-US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6610" y="1847792"/>
            <a:ext cx="5020573" cy="415115"/>
          </a:xfrm>
        </p:spPr>
        <p:txBody>
          <a:bodyPr/>
          <a:lstStyle/>
          <a:p>
            <a:r>
              <a:rPr lang="en-US" dirty="0" smtClean="0"/>
              <a:t>St. Jude Children’s Research Hospital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458249" y="2304041"/>
            <a:ext cx="3492649" cy="1810760"/>
          </a:xfrm>
        </p:spPr>
        <p:txBody>
          <a:bodyPr/>
          <a:lstStyle/>
          <a:p>
            <a:r>
              <a:rPr lang="en-US" dirty="0" smtClean="0"/>
              <a:t>Don Baker, </a:t>
            </a:r>
            <a:r>
              <a:rPr lang="en-US" dirty="0" err="1" smtClean="0"/>
              <a:t>PharmD</a:t>
            </a:r>
            <a:r>
              <a:rPr lang="en-US" dirty="0" smtClean="0"/>
              <a:t>, MBA</a:t>
            </a:r>
          </a:p>
          <a:p>
            <a:r>
              <a:rPr lang="en-US" dirty="0" smtClean="0"/>
              <a:t>Clinical Decision Support Officer</a:t>
            </a:r>
          </a:p>
          <a:p>
            <a:endParaRPr lang="en-US" dirty="0" smtClean="0"/>
          </a:p>
          <a:p>
            <a:r>
              <a:rPr lang="en-US" dirty="0" smtClean="0"/>
              <a:t>Dennis Huber</a:t>
            </a:r>
          </a:p>
          <a:p>
            <a:r>
              <a:rPr lang="en-US" dirty="0" smtClean="0"/>
              <a:t>Director, Pharmacy and Supply Chain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PharmNet and Medication - Tables and Fields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381000" y="1204332"/>
            <a:ext cx="8450263" cy="5161962"/>
          </a:xfrm>
        </p:spPr>
        <p:txBody>
          <a:bodyPr/>
          <a:lstStyle/>
          <a:p>
            <a:pPr lvl="0"/>
            <a:r>
              <a:rPr lang="en-US" sz="1800" dirty="0" smtClean="0"/>
              <a:t>PharmNet-Inpatient Formulary</a:t>
            </a:r>
          </a:p>
          <a:p>
            <a:pPr lvl="1"/>
            <a:r>
              <a:rPr lang="en-US" sz="1800" dirty="0" smtClean="0"/>
              <a:t>Review </a:t>
            </a:r>
            <a:r>
              <a:rPr lang="en-US" sz="1800" dirty="0" err="1" smtClean="0"/>
              <a:t>PhaDBProductMgr</a:t>
            </a:r>
            <a:r>
              <a:rPr lang="en-US" sz="1800" dirty="0" smtClean="0"/>
              <a:t> – Tables and Fields</a:t>
            </a:r>
          </a:p>
          <a:p>
            <a:pPr lvl="1"/>
            <a:r>
              <a:rPr lang="en-US" sz="1800" dirty="0" smtClean="0"/>
              <a:t>Query example</a:t>
            </a:r>
          </a:p>
          <a:p>
            <a:pPr lvl="0"/>
            <a:r>
              <a:rPr lang="en-US" sz="1800" dirty="0" smtClean="0"/>
              <a:t>Power Orders – New Medication Order</a:t>
            </a:r>
          </a:p>
          <a:p>
            <a:pPr lvl="1"/>
            <a:r>
              <a:rPr lang="en-US" sz="1800" dirty="0" smtClean="0"/>
              <a:t>Review Power Orders – Tables and Fields</a:t>
            </a:r>
            <a:endParaRPr lang="en-US" sz="1600" dirty="0" smtClean="0"/>
          </a:p>
          <a:p>
            <a:pPr lvl="1"/>
            <a:r>
              <a:rPr lang="en-US" sz="1800" dirty="0" smtClean="0"/>
              <a:t>Query example</a:t>
            </a:r>
          </a:p>
          <a:p>
            <a:pPr lvl="0"/>
            <a:r>
              <a:rPr lang="en-US" sz="1800" dirty="0" smtClean="0"/>
              <a:t>Power Orders – Chart the Medication Task</a:t>
            </a:r>
          </a:p>
          <a:p>
            <a:pPr lvl="1"/>
            <a:r>
              <a:rPr lang="en-US" sz="1800" dirty="0" smtClean="0"/>
              <a:t>Review EMAR – Tables and Fields</a:t>
            </a:r>
          </a:p>
          <a:p>
            <a:pPr lvl="1"/>
            <a:r>
              <a:rPr lang="en-US" sz="1800" dirty="0" smtClean="0"/>
              <a:t>Query example</a:t>
            </a:r>
          </a:p>
          <a:p>
            <a:pPr lvl="0"/>
            <a:r>
              <a:rPr lang="en-US" sz="1800" dirty="0" smtClean="0"/>
              <a:t>PhaMedMgr – Verification of Medication Order</a:t>
            </a:r>
          </a:p>
          <a:p>
            <a:pPr lvl="1"/>
            <a:r>
              <a:rPr lang="en-US" sz="1800" dirty="0" smtClean="0"/>
              <a:t>Review PhaMedMgr – Tables and Fields</a:t>
            </a:r>
          </a:p>
          <a:p>
            <a:pPr lvl="1"/>
            <a:r>
              <a:rPr lang="en-US" sz="1800" dirty="0" smtClean="0"/>
              <a:t>Query example</a:t>
            </a:r>
          </a:p>
          <a:p>
            <a:pPr lvl="0">
              <a:buNone/>
            </a:pPr>
            <a:endParaRPr lang="en-US" dirty="0" smtClean="0"/>
          </a:p>
          <a:p>
            <a:pPr lvl="1"/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PhaDBProductMgr</a:t>
            </a:r>
            <a:r>
              <a:rPr lang="en-US" dirty="0" smtClean="0"/>
              <a:t> - Header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/>
          <a:srcRect t="2048" b="2048"/>
          <a:stretch>
            <a:fillRect/>
          </a:stretch>
        </p:blipFill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PhaDBProductMgr</a:t>
            </a:r>
            <a:r>
              <a:rPr lang="en-US" dirty="0" smtClean="0"/>
              <a:t> - Header</a:t>
            </a:r>
            <a:endParaRPr lang="en-US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4"/>
          </p:nvPr>
        </p:nvGraphicFramePr>
        <p:xfrm>
          <a:off x="235579" y="1078304"/>
          <a:ext cx="7959515" cy="35400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3172"/>
                <a:gridCol w="2666660"/>
                <a:gridCol w="2639683"/>
              </a:tblGrid>
              <a:tr h="360503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PhaDBProductMgr</a:t>
                      </a:r>
                      <a:r>
                        <a:rPr lang="en-US" baseline="0" dirty="0" smtClean="0"/>
                        <a:t> Field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Table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Field</a:t>
                      </a:r>
                      <a:endParaRPr lang="en-US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dirty="0" smtClean="0"/>
                        <a:t>Description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Med_identifier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Value</a:t>
                      </a:r>
                      <a:endParaRPr lang="en-US" dirty="0"/>
                    </a:p>
                  </a:txBody>
                  <a:tcPr/>
                </a:tc>
              </a:tr>
              <a:tr h="372719">
                <a:tc>
                  <a:txBody>
                    <a:bodyPr/>
                    <a:lstStyle/>
                    <a:p>
                      <a:r>
                        <a:rPr lang="en-US" dirty="0" smtClean="0"/>
                        <a:t>Strength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Medication_definition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Given_strength</a:t>
                      </a:r>
                      <a:endParaRPr lang="en-US" dirty="0" smtClean="0"/>
                    </a:p>
                  </a:txBody>
                  <a:tcPr/>
                </a:tc>
              </a:tr>
              <a:tr h="372719">
                <a:tc>
                  <a:txBody>
                    <a:bodyPr/>
                    <a:lstStyle/>
                    <a:p>
                      <a:r>
                        <a:rPr lang="en-US" dirty="0" smtClean="0"/>
                        <a:t>Status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Med_def_flex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Active_ind</a:t>
                      </a:r>
                      <a:endParaRPr lang="en-US" dirty="0"/>
                    </a:p>
                  </a:txBody>
                  <a:tcPr/>
                </a:tc>
              </a:tr>
              <a:tr h="359166">
                <a:tc>
                  <a:txBody>
                    <a:bodyPr/>
                    <a:lstStyle/>
                    <a:p>
                      <a:r>
                        <a:rPr lang="en-US" dirty="0" smtClean="0"/>
                        <a:t>Therapeutic Substitutions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Rx_therap_sbsttn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From_item_id</a:t>
                      </a:r>
                      <a:endParaRPr lang="en-US" dirty="0"/>
                    </a:p>
                  </a:txBody>
                  <a:tcPr/>
                </a:tc>
              </a:tr>
              <a:tr h="394744">
                <a:tc>
                  <a:txBody>
                    <a:bodyPr/>
                    <a:lstStyle/>
                    <a:p>
                      <a:r>
                        <a:rPr lang="en-US" dirty="0" smtClean="0"/>
                        <a:t>Generic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Med_identifier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Value</a:t>
                      </a:r>
                      <a:endParaRPr lang="en-US" dirty="0"/>
                    </a:p>
                  </a:txBody>
                  <a:tcPr/>
                </a:tc>
              </a:tr>
              <a:tr h="398133">
                <a:tc>
                  <a:txBody>
                    <a:bodyPr/>
                    <a:lstStyle/>
                    <a:p>
                      <a:r>
                        <a:rPr lang="en-US" dirty="0" smtClean="0"/>
                        <a:t>Dosage Form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Medication_definition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Form_cd</a:t>
                      </a:r>
                      <a:endParaRPr lang="en-US" dirty="0"/>
                    </a:p>
                  </a:txBody>
                  <a:tcPr/>
                </a:tc>
              </a:tr>
              <a:tr h="415074">
                <a:tc>
                  <a:txBody>
                    <a:bodyPr/>
                    <a:lstStyle/>
                    <a:p>
                      <a:r>
                        <a:rPr lang="en-US" dirty="0" smtClean="0"/>
                        <a:t>Legal Status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Med_dispense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Legal_status_cd</a:t>
                      </a:r>
                      <a:endParaRPr lang="en-US" dirty="0"/>
                    </a:p>
                  </a:txBody>
                  <a:tcPr/>
                </a:tc>
              </a:tr>
              <a:tr h="487151">
                <a:tc>
                  <a:txBody>
                    <a:bodyPr/>
                    <a:lstStyle/>
                    <a:p>
                      <a:r>
                        <a:rPr lang="en-US" dirty="0" smtClean="0"/>
                        <a:t>Mnemonic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Med_identifier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Value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PhaDBProductMgr</a:t>
            </a:r>
            <a:r>
              <a:rPr lang="en-US" dirty="0" smtClean="0"/>
              <a:t> – OE Defaults Tab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/>
          <a:srcRect t="2048" b="2048"/>
          <a:stretch>
            <a:fillRect/>
          </a:stretch>
        </p:blipFill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PhaDBProductMgr</a:t>
            </a:r>
            <a:r>
              <a:rPr lang="en-US" dirty="0" smtClean="0"/>
              <a:t> – OE Defaults Tab (continued)</a:t>
            </a:r>
            <a:endParaRPr lang="en-US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4"/>
          </p:nvPr>
        </p:nvGraphicFramePr>
        <p:xfrm>
          <a:off x="235579" y="1078304"/>
          <a:ext cx="7959515" cy="5325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3172"/>
                <a:gridCol w="2364736"/>
                <a:gridCol w="2941607"/>
              </a:tblGrid>
              <a:tr h="360503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PhaDBProductMgr</a:t>
                      </a:r>
                      <a:r>
                        <a:rPr lang="en-US" baseline="0" dirty="0" smtClean="0"/>
                        <a:t> Field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Table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Field</a:t>
                      </a:r>
                      <a:endParaRPr lang="en-US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dirty="0" smtClean="0"/>
                        <a:t>Dose (</a:t>
                      </a:r>
                      <a:r>
                        <a:rPr lang="en-US" dirty="0" err="1" smtClean="0"/>
                        <a:t>Freetext</a:t>
                      </a:r>
                      <a:r>
                        <a:rPr lang="en-US" dirty="0" smtClean="0"/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Med_oe_defaults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Freetext_dose</a:t>
                      </a:r>
                      <a:endParaRPr lang="en-US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dirty="0" smtClean="0"/>
                        <a:t>Dose</a:t>
                      </a:r>
                      <a:r>
                        <a:rPr lang="en-US" baseline="0" dirty="0" smtClean="0"/>
                        <a:t> (Codified)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Med_oe_defaults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Strength, </a:t>
                      </a:r>
                      <a:r>
                        <a:rPr lang="en-US" dirty="0" err="1" smtClean="0"/>
                        <a:t>Strength_unit_cd</a:t>
                      </a:r>
                      <a:r>
                        <a:rPr lang="en-US" dirty="0" smtClean="0"/>
                        <a:t>, Volume, </a:t>
                      </a:r>
                      <a:r>
                        <a:rPr lang="en-US" dirty="0" err="1" smtClean="0"/>
                        <a:t>Volume_unit_cd</a:t>
                      </a:r>
                      <a:endParaRPr lang="en-US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dirty="0" smtClean="0"/>
                        <a:t>Route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Med_oe_defaults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Route_cd</a:t>
                      </a:r>
                      <a:endParaRPr lang="en-US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dirty="0" smtClean="0"/>
                        <a:t>Frequency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Med_oe_defaults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Frequency_cd</a:t>
                      </a:r>
                      <a:endParaRPr lang="en-US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dirty="0" smtClean="0"/>
                        <a:t>Infuse</a:t>
                      </a:r>
                      <a:r>
                        <a:rPr lang="en-US" baseline="0" dirty="0" smtClean="0"/>
                        <a:t> Over / Unit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Med_oe_defaults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Infuse_over</a:t>
                      </a:r>
                      <a:r>
                        <a:rPr lang="en-US" dirty="0" smtClean="0"/>
                        <a:t>,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Infuse_over_cd</a:t>
                      </a:r>
                      <a:endParaRPr lang="en-US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Freetext</a:t>
                      </a:r>
                      <a:r>
                        <a:rPr lang="en-US" dirty="0" smtClean="0"/>
                        <a:t> Rate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Med_oe_defaults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Freetext_rate_txt</a:t>
                      </a:r>
                      <a:endParaRPr lang="en-US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dirty="0" smtClean="0"/>
                        <a:t>Normalized Rate / Unit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Med_oe_defaults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Normalized_rate_nbr</a:t>
                      </a:r>
                      <a:r>
                        <a:rPr lang="en-US" dirty="0" smtClean="0"/>
                        <a:t>, </a:t>
                      </a:r>
                      <a:r>
                        <a:rPr lang="en-US" dirty="0" err="1" smtClean="0"/>
                        <a:t>Normalized_rate_unit_cd</a:t>
                      </a:r>
                      <a:endParaRPr lang="en-US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dirty="0" smtClean="0"/>
                        <a:t>Rate / Unit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Med_oe_defaults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Rate_nbr</a:t>
                      </a:r>
                      <a:r>
                        <a:rPr lang="en-US" dirty="0" smtClean="0"/>
                        <a:t>, </a:t>
                      </a:r>
                      <a:r>
                        <a:rPr lang="en-US" dirty="0" err="1" smtClean="0"/>
                        <a:t>Rate_unit_cd</a:t>
                      </a:r>
                      <a:endParaRPr lang="en-US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dirty="0" smtClean="0"/>
                        <a:t>Duration / Unit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Med_oe_defaults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Duration, </a:t>
                      </a:r>
                      <a:r>
                        <a:rPr lang="en-US" dirty="0" err="1" smtClean="0"/>
                        <a:t>Duration_uom_cd</a:t>
                      </a:r>
                      <a:endParaRPr lang="en-US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dirty="0" smtClean="0"/>
                        <a:t>Stop</a:t>
                      </a:r>
                      <a:r>
                        <a:rPr lang="en-US" baseline="0" dirty="0" smtClean="0"/>
                        <a:t> 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Med_oe_defaults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Stop_type_cd</a:t>
                      </a:r>
                      <a:endParaRPr lang="en-US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dirty="0" smtClean="0"/>
                        <a:t>PRN</a:t>
                      </a:r>
                      <a:r>
                        <a:rPr lang="en-US" baseline="0" dirty="0" smtClean="0"/>
                        <a:t> / Reason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Med_oe_defaults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PRN_ind</a:t>
                      </a:r>
                      <a:r>
                        <a:rPr lang="en-US" dirty="0" smtClean="0"/>
                        <a:t>, </a:t>
                      </a:r>
                      <a:r>
                        <a:rPr lang="en-US" dirty="0" err="1" smtClean="0"/>
                        <a:t>PRN_reason_cd</a:t>
                      </a:r>
                      <a:endParaRPr lang="en-US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dirty="0" smtClean="0"/>
                        <a:t>Default Ordered As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Med_oe_defaults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Ord_as_synonym_id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PhaDBProductMgr</a:t>
            </a:r>
            <a:r>
              <a:rPr lang="en-US" dirty="0" smtClean="0"/>
              <a:t> – OE Defaults Tab (continued)</a:t>
            </a:r>
            <a:endParaRPr lang="en-US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4"/>
          </p:nvPr>
        </p:nvGraphicFramePr>
        <p:xfrm>
          <a:off x="235579" y="1078304"/>
          <a:ext cx="7959515" cy="53102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3172"/>
                <a:gridCol w="2028306"/>
                <a:gridCol w="3278037"/>
              </a:tblGrid>
              <a:tr h="360503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PhaDBProductMgr</a:t>
                      </a:r>
                      <a:r>
                        <a:rPr lang="en-US" baseline="0" dirty="0" smtClean="0"/>
                        <a:t> Field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Table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Field</a:t>
                      </a:r>
                      <a:endParaRPr lang="en-US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dirty="0" smtClean="0"/>
                        <a:t>Default Screen</a:t>
                      </a:r>
                      <a:r>
                        <a:rPr lang="en-US" baseline="0" dirty="0" smtClean="0"/>
                        <a:t> Format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Med_dispense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Oe_format_flag</a:t>
                      </a:r>
                      <a:r>
                        <a:rPr lang="en-US" dirty="0" smtClean="0"/>
                        <a:t> (1 = Med,</a:t>
                      </a:r>
                      <a:r>
                        <a:rPr lang="en-US" baseline="0" dirty="0" smtClean="0"/>
                        <a:t> 2 = Cont, 3 = </a:t>
                      </a:r>
                      <a:r>
                        <a:rPr lang="en-US" baseline="0" dirty="0" err="1" smtClean="0"/>
                        <a:t>Int</a:t>
                      </a:r>
                      <a:r>
                        <a:rPr lang="en-US" baseline="0" dirty="0" smtClean="0"/>
                        <a:t>)</a:t>
                      </a:r>
                      <a:endParaRPr lang="en-US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dirty="0" smtClean="0"/>
                        <a:t>Search Filter Types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Med_oe_defaults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Med_filter_ind</a:t>
                      </a:r>
                      <a:r>
                        <a:rPr lang="en-US" dirty="0" smtClean="0"/>
                        <a:t>, </a:t>
                      </a:r>
                      <a:r>
                        <a:rPr lang="en-US" dirty="0" err="1" smtClean="0"/>
                        <a:t>Continuous_flter_ind</a:t>
                      </a:r>
                      <a:r>
                        <a:rPr lang="en-US" dirty="0" smtClean="0"/>
                        <a:t>, </a:t>
                      </a:r>
                      <a:r>
                        <a:rPr lang="en-US" dirty="0" err="1" smtClean="0"/>
                        <a:t>Intermittent_filter_ind</a:t>
                      </a:r>
                      <a:endParaRPr lang="en-US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dirty="0" smtClean="0"/>
                        <a:t>Notes</a:t>
                      </a:r>
                      <a:r>
                        <a:rPr lang="en-US" baseline="0" dirty="0" smtClean="0"/>
                        <a:t>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Long_text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Long_text</a:t>
                      </a:r>
                      <a:endParaRPr lang="en-US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dirty="0" smtClean="0"/>
                        <a:t>Notes</a:t>
                      </a:r>
                      <a:r>
                        <a:rPr lang="en-US" baseline="0" dirty="0" smtClean="0"/>
                        <a:t> 1 – Applies To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Med_oe_defaults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Comment1_type</a:t>
                      </a:r>
                    </a:p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FILL LIST</a:t>
                      </a:r>
                    </a:p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 </a:t>
                      </a:r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 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MAR</a:t>
                      </a:r>
                    </a:p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FILL LIST &amp; MAR</a:t>
                      </a:r>
                    </a:p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LABEL</a:t>
                      </a:r>
                    </a:p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FILL LIST &amp; LABEL</a:t>
                      </a:r>
                    </a:p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MAR &amp; LABEL</a:t>
                      </a:r>
                    </a:p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FILL LIST &amp; MAR &amp; LABEL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dirty="0" smtClean="0"/>
                        <a:t>Notes</a:t>
                      </a:r>
                      <a:r>
                        <a:rPr lang="en-US" baseline="0" dirty="0" smtClean="0"/>
                        <a:t> 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Long_text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Long_text</a:t>
                      </a:r>
                      <a:endParaRPr lang="en-US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dirty="0" smtClean="0"/>
                        <a:t>Notes</a:t>
                      </a:r>
                      <a:r>
                        <a:rPr lang="en-US" baseline="0" dirty="0" smtClean="0"/>
                        <a:t> 2 – Applies To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Med_oe_defaults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Comment2_type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PhaDBProductMgr</a:t>
            </a:r>
            <a:r>
              <a:rPr lang="en-US" dirty="0" smtClean="0"/>
              <a:t> – Dispense Tab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/>
          <a:srcRect t="2295" b="2295"/>
          <a:stretch>
            <a:fillRect/>
          </a:stretch>
        </p:blipFill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PhaDBProductMgr</a:t>
            </a:r>
            <a:r>
              <a:rPr lang="en-US" dirty="0" smtClean="0"/>
              <a:t> – Dispense Tab (continued)</a:t>
            </a:r>
            <a:endParaRPr lang="en-US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4"/>
          </p:nvPr>
        </p:nvGraphicFramePr>
        <p:xfrm>
          <a:off x="235579" y="1078304"/>
          <a:ext cx="7959515" cy="52321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051"/>
                <a:gridCol w="2173857"/>
                <a:gridCol w="2941607"/>
              </a:tblGrid>
              <a:tr h="360503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PhaDBProductMgr</a:t>
                      </a:r>
                      <a:r>
                        <a:rPr lang="en-US" baseline="0" dirty="0" smtClean="0"/>
                        <a:t> Field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Table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Field</a:t>
                      </a:r>
                      <a:endParaRPr lang="en-US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dirty="0" smtClean="0"/>
                        <a:t>Strength</a:t>
                      </a:r>
                      <a:r>
                        <a:rPr lang="en-US" baseline="0" dirty="0" smtClean="0"/>
                        <a:t> &amp; Volume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Med_dispense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Strength, </a:t>
                      </a:r>
                      <a:r>
                        <a:rPr lang="en-US" dirty="0" err="1" smtClean="0"/>
                        <a:t>Strength_unit_cd</a:t>
                      </a:r>
                      <a:r>
                        <a:rPr lang="en-US" dirty="0" smtClean="0"/>
                        <a:t>, Volume, </a:t>
                      </a:r>
                      <a:r>
                        <a:rPr lang="en-US" dirty="0" err="1" smtClean="0"/>
                        <a:t>Volume_unit_cd</a:t>
                      </a:r>
                      <a:endParaRPr lang="en-US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dirty="0" smtClean="0"/>
                        <a:t>Dispense</a:t>
                      </a:r>
                      <a:r>
                        <a:rPr lang="en-US" baseline="0" dirty="0" smtClean="0"/>
                        <a:t> Qty / Unit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Med_package_type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Dispense_qty</a:t>
                      </a:r>
                      <a:r>
                        <a:rPr lang="en-US" dirty="0" smtClean="0"/>
                        <a:t>,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uom_cd</a:t>
                      </a:r>
                      <a:endParaRPr lang="en-US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dirty="0" smtClean="0"/>
                        <a:t>Dispense</a:t>
                      </a:r>
                      <a:r>
                        <a:rPr lang="en-US" baseline="0" dirty="0" smtClean="0"/>
                        <a:t> Category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Med_oe_defaults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Dispense_category_cd</a:t>
                      </a:r>
                      <a:endParaRPr lang="en-US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dirty="0" smtClean="0"/>
                        <a:t>Dispense</a:t>
                      </a:r>
                      <a:r>
                        <a:rPr lang="en-US" baseline="0" dirty="0" smtClean="0"/>
                        <a:t> Factor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Med_dispense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Dispense_factor</a:t>
                      </a:r>
                      <a:endParaRPr lang="en-US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dirty="0" smtClean="0"/>
                        <a:t>Per</a:t>
                      </a:r>
                      <a:r>
                        <a:rPr lang="en-US" baseline="0" dirty="0" smtClean="0"/>
                        <a:t> Package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Med_dispense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Pkg_qty_per_pkg</a:t>
                      </a:r>
                      <a:endParaRPr lang="en-US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dirty="0" smtClean="0"/>
                        <a:t>Formulary</a:t>
                      </a:r>
                      <a:r>
                        <a:rPr lang="en-US" baseline="0" dirty="0" smtClean="0"/>
                        <a:t> Status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Med_dispense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Formulary_status_cd</a:t>
                      </a:r>
                      <a:endParaRPr lang="en-US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dirty="0" smtClean="0"/>
                        <a:t>Price Schedule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Med_oe_defaults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Price_sched_id</a:t>
                      </a:r>
                      <a:endParaRPr lang="en-US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dirty="0" smtClean="0"/>
                        <a:t>Used</a:t>
                      </a:r>
                      <a:r>
                        <a:rPr lang="en-US" baseline="0" dirty="0" smtClean="0"/>
                        <a:t> in Total Volume Calc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Med_dispense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Used_as_base_ind</a:t>
                      </a:r>
                      <a:endParaRPr lang="en-US" dirty="0" smtClean="0"/>
                    </a:p>
                    <a:p>
                      <a:r>
                        <a:rPr lang="en-US" dirty="0" smtClean="0"/>
                        <a:t>0</a:t>
                      </a:r>
                      <a:r>
                        <a:rPr lang="en-US" baseline="0" dirty="0" smtClean="0"/>
                        <a:t> = Never, 1 = Sometimes, 2 = Always</a:t>
                      </a:r>
                      <a:endParaRPr lang="en-US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dirty="0" smtClean="0"/>
                        <a:t>Workflow</a:t>
                      </a:r>
                      <a:r>
                        <a:rPr lang="en-US" baseline="0" dirty="0" smtClean="0"/>
                        <a:t> Sequence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Med_dispense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Workflow_cd</a:t>
                      </a:r>
                      <a:endParaRPr lang="en-US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dirty="0" smtClean="0"/>
                        <a:t>This</a:t>
                      </a:r>
                      <a:r>
                        <a:rPr lang="en-US" baseline="0" dirty="0" smtClean="0"/>
                        <a:t> product is divisible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Med_dispense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Divisible_ind</a:t>
                      </a:r>
                      <a:endParaRPr lang="en-US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dirty="0" smtClean="0"/>
                        <a:t>Minimum</a:t>
                      </a:r>
                      <a:r>
                        <a:rPr lang="en-US" baseline="0" dirty="0" smtClean="0"/>
                        <a:t> divisible factor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Med_dispense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Base_issue_factor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PhaDBProductMgr</a:t>
            </a:r>
            <a:r>
              <a:rPr lang="en-US" dirty="0" smtClean="0"/>
              <a:t> – Dispense Tab (continued)</a:t>
            </a:r>
            <a:endParaRPr lang="en-US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4"/>
          </p:nvPr>
        </p:nvGraphicFramePr>
        <p:xfrm>
          <a:off x="235579" y="1078304"/>
          <a:ext cx="7959515" cy="29305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3172"/>
                <a:gridCol w="2364736"/>
                <a:gridCol w="2941607"/>
              </a:tblGrid>
              <a:tr h="360503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PhaDBProductMgr</a:t>
                      </a:r>
                      <a:r>
                        <a:rPr lang="en-US" baseline="0" dirty="0" smtClean="0"/>
                        <a:t> Field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Table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Field</a:t>
                      </a:r>
                      <a:endParaRPr lang="en-US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dirty="0" smtClean="0"/>
                        <a:t>Infinitely</a:t>
                      </a:r>
                      <a:r>
                        <a:rPr lang="en-US" baseline="0" dirty="0" smtClean="0"/>
                        <a:t> Divisible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Med_dispense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Base_issue_factor</a:t>
                      </a:r>
                      <a:r>
                        <a:rPr lang="en-US" baseline="0" dirty="0" smtClean="0"/>
                        <a:t> (when equal to 0.001)</a:t>
                      </a:r>
                      <a:endParaRPr lang="en-US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dirty="0" smtClean="0"/>
                        <a:t>Default</a:t>
                      </a:r>
                      <a:r>
                        <a:rPr lang="en-US" baseline="0" dirty="0" smtClean="0"/>
                        <a:t> Par Doses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Med_dispense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Default_par_doses</a:t>
                      </a:r>
                      <a:endParaRPr lang="en-US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dirty="0" smtClean="0"/>
                        <a:t>Max Par Supply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Med_dispense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Max_par_supply</a:t>
                      </a:r>
                      <a:endParaRPr lang="en-US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dirty="0" smtClean="0"/>
                        <a:t>POC Charge Flag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Med_dispense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Poc_charge_flag</a:t>
                      </a:r>
                      <a:r>
                        <a:rPr lang="en-US" dirty="0" smtClean="0"/>
                        <a:t> (0 = Scanned Products,</a:t>
                      </a:r>
                      <a:r>
                        <a:rPr lang="en-US" baseline="0" dirty="0" smtClean="0"/>
                        <a:t> 1 = Ordered / Assigned Products)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PhaDBProductMgr</a:t>
            </a:r>
            <a:r>
              <a:rPr lang="en-US" dirty="0" smtClean="0"/>
              <a:t> – Inventory Tab</a:t>
            </a:r>
            <a:endParaRPr lang="en-US" dirty="0"/>
          </a:p>
        </p:txBody>
      </p:sp>
      <p:pic>
        <p:nvPicPr>
          <p:cNvPr id="4099" name="Picture 3"/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/>
          <a:srcRect t="2141" b="2141"/>
          <a:stretch>
            <a:fillRect/>
          </a:stretch>
        </p:blipFill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PhaDBProductMgr</a:t>
            </a:r>
            <a:r>
              <a:rPr lang="en-US" dirty="0" smtClean="0"/>
              <a:t> – Inventory Tab (continued)</a:t>
            </a:r>
            <a:endParaRPr lang="en-US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4"/>
          </p:nvPr>
        </p:nvGraphicFramePr>
        <p:xfrm>
          <a:off x="235579" y="1078304"/>
          <a:ext cx="7959515" cy="42218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051"/>
                <a:gridCol w="2173857"/>
                <a:gridCol w="2941607"/>
              </a:tblGrid>
              <a:tr h="360503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PhaDBProductMgr</a:t>
                      </a:r>
                      <a:r>
                        <a:rPr lang="en-US" baseline="0" dirty="0" smtClean="0"/>
                        <a:t> Field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Table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Field</a:t>
                      </a:r>
                      <a:endParaRPr lang="en-US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dirty="0" smtClean="0"/>
                        <a:t>Facilities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Med_flex_object_idx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Parent_entity_id</a:t>
                      </a:r>
                      <a:endParaRPr lang="en-US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dirty="0" smtClean="0"/>
                        <a:t>Non-</a:t>
                      </a:r>
                      <a:r>
                        <a:rPr lang="en-US" dirty="0" err="1" smtClean="0"/>
                        <a:t>Floorstock</a:t>
                      </a:r>
                      <a:r>
                        <a:rPr lang="en-US" dirty="0" smtClean="0"/>
                        <a:t> Locations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Stored_at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Location_cd</a:t>
                      </a:r>
                      <a:endParaRPr lang="en-US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Floorstock</a:t>
                      </a:r>
                      <a:r>
                        <a:rPr lang="en-US" baseline="0" dirty="0" smtClean="0"/>
                        <a:t> Locations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Stored_at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Location_cd</a:t>
                      </a:r>
                      <a:endParaRPr lang="en-US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dirty="0" smtClean="0"/>
                        <a:t>First</a:t>
                      </a:r>
                      <a:r>
                        <a:rPr lang="en-US" baseline="0" dirty="0" smtClean="0"/>
                        <a:t> Dose Flag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Item_control_info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First_dose_flag</a:t>
                      </a:r>
                      <a:endParaRPr lang="en-US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dirty="0" smtClean="0"/>
                        <a:t>Facility Flexed –</a:t>
                      </a:r>
                      <a:r>
                        <a:rPr lang="en-US" baseline="0" dirty="0" smtClean="0"/>
                        <a:t> Formulary Status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Med_dispense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Formulary_status_cd</a:t>
                      </a:r>
                      <a:endParaRPr lang="en-US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dirty="0" smtClean="0"/>
                        <a:t>Facility Flexed</a:t>
                      </a:r>
                      <a:r>
                        <a:rPr lang="en-US" baseline="0" dirty="0" smtClean="0"/>
                        <a:t> – Lot Tracking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Med_dispense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Lot_tracking_ind</a:t>
                      </a:r>
                      <a:endParaRPr lang="en-US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baseline="0" dirty="0" smtClean="0"/>
                        <a:t>Dispense From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Med_dispense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Always_dispense_from_flag</a:t>
                      </a:r>
                      <a:endParaRPr lang="en-US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dirty="0" smtClean="0"/>
                        <a:t>Product</a:t>
                      </a:r>
                      <a:r>
                        <a:rPr lang="en-US" baseline="0" dirty="0" smtClean="0"/>
                        <a:t> is reusable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Med_dispense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Reusable_flag</a:t>
                      </a:r>
                      <a:endParaRPr lang="en-US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dirty="0" smtClean="0"/>
                        <a:t>Track</a:t>
                      </a:r>
                      <a:r>
                        <a:rPr lang="en-US" baseline="0" dirty="0" smtClean="0"/>
                        <a:t> Lot Numbers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Med_dispense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Lot_tracking_ind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PhaDBProductMgr</a:t>
            </a:r>
            <a:r>
              <a:rPr lang="en-US" dirty="0" smtClean="0"/>
              <a:t> – Clinical Tab</a:t>
            </a:r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/>
          <a:srcRect t="2708" b="2708"/>
          <a:stretch>
            <a:fillRect/>
          </a:stretch>
        </p:blipFill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PhaDBProductMgr</a:t>
            </a:r>
            <a:r>
              <a:rPr lang="en-US" dirty="0" smtClean="0"/>
              <a:t> – Clinical Tab (continued)</a:t>
            </a:r>
            <a:endParaRPr lang="en-US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4"/>
          </p:nvPr>
        </p:nvGraphicFramePr>
        <p:xfrm>
          <a:off x="235579" y="1078304"/>
          <a:ext cx="7959515" cy="41259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051"/>
                <a:gridCol w="2173857"/>
                <a:gridCol w="2941607"/>
              </a:tblGrid>
              <a:tr h="360503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PhaDBProductMgr</a:t>
                      </a:r>
                      <a:r>
                        <a:rPr lang="en-US" baseline="0" dirty="0" smtClean="0"/>
                        <a:t> Field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Table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Field</a:t>
                      </a:r>
                      <a:endParaRPr lang="en-US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dirty="0" smtClean="0"/>
                        <a:t>Generic</a:t>
                      </a:r>
                      <a:r>
                        <a:rPr lang="en-US" baseline="0" dirty="0" smtClean="0"/>
                        <a:t> Formulation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Nomenclature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Source_string</a:t>
                      </a:r>
                      <a:endParaRPr lang="en-US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dirty="0" smtClean="0"/>
                        <a:t>Drug Formulation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Nomenclature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Source_string</a:t>
                      </a:r>
                      <a:endParaRPr lang="en-US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dirty="0" smtClean="0"/>
                        <a:t>Suppress Clinical Checking Alerts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Order_catalog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CKI</a:t>
                      </a:r>
                      <a:endParaRPr lang="en-US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dirty="0" smtClean="0"/>
                        <a:t>Therapeutic Class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Alt_sel_cat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Long_description</a:t>
                      </a:r>
                      <a:endParaRPr lang="en-US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dirty="0" smtClean="0"/>
                        <a:t>Order Catalog – DC Info – Interaction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Order_catalog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Dc_interaction_days</a:t>
                      </a:r>
                      <a:endParaRPr lang="en-US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dirty="0" smtClean="0"/>
                        <a:t>Order</a:t>
                      </a:r>
                      <a:r>
                        <a:rPr lang="en-US" baseline="0" dirty="0" smtClean="0"/>
                        <a:t> Catalog – DC Info – Display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Order_catalog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Dc_display_days</a:t>
                      </a:r>
                      <a:endParaRPr lang="en-US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baseline="0" dirty="0" smtClean="0"/>
                        <a:t>Order Alerts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Med_flex_object_idx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Parent_entity_id</a:t>
                      </a:r>
                      <a:endParaRPr lang="en-US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dirty="0" smtClean="0"/>
                        <a:t>Warning Labels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Warning_label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Label_full_txt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PhaDBProductMgr</a:t>
            </a:r>
            <a:r>
              <a:rPr lang="en-US" dirty="0" smtClean="0"/>
              <a:t> – Supply Tab</a:t>
            </a:r>
            <a:endParaRPr lang="en-US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/>
          <a:srcRect t="2141" b="2141"/>
          <a:stretch>
            <a:fillRect/>
          </a:stretch>
        </p:blipFill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PhaDBProductMgr</a:t>
            </a:r>
            <a:r>
              <a:rPr lang="en-US" dirty="0" smtClean="0"/>
              <a:t> – Supply Properties</a:t>
            </a:r>
            <a:endParaRPr lang="en-US" dirty="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/>
          <a:srcRect t="1704" b="1704"/>
          <a:stretch>
            <a:fillRect/>
          </a:stretch>
        </p:blipFill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PhaDBProductMgr</a:t>
            </a:r>
            <a:r>
              <a:rPr lang="en-US" dirty="0" smtClean="0"/>
              <a:t> – Supply Properties (continued)</a:t>
            </a:r>
            <a:endParaRPr lang="en-US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4"/>
          </p:nvPr>
        </p:nvGraphicFramePr>
        <p:xfrm>
          <a:off x="235579" y="1078304"/>
          <a:ext cx="7959515" cy="44025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051"/>
                <a:gridCol w="2173857"/>
                <a:gridCol w="2941607"/>
              </a:tblGrid>
              <a:tr h="360503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PhaDBProductMgr</a:t>
                      </a:r>
                      <a:r>
                        <a:rPr lang="en-US" baseline="0" dirty="0" smtClean="0"/>
                        <a:t> Field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Table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Field</a:t>
                      </a:r>
                      <a:endParaRPr lang="en-US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dirty="0" smtClean="0"/>
                        <a:t>Manufacturer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Manufacturer_item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Manufacturer_cd</a:t>
                      </a:r>
                      <a:endParaRPr lang="en-US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dirty="0" smtClean="0"/>
                        <a:t>Package Types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Package_type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Qty,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Uom_cd</a:t>
                      </a:r>
                      <a:endParaRPr lang="en-US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dirty="0" smtClean="0"/>
                        <a:t>Unit Dose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Med_product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Unit_dose_flag</a:t>
                      </a:r>
                      <a:endParaRPr lang="en-US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dirty="0" smtClean="0"/>
                        <a:t>BIO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Med_product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Bio_equiv_flag</a:t>
                      </a:r>
                      <a:endParaRPr lang="en-US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dirty="0" smtClean="0"/>
                        <a:t>Brand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Med_product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Brand_flag</a:t>
                      </a:r>
                      <a:endParaRPr lang="en-US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dirty="0" smtClean="0"/>
                        <a:t>Identifiers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Med_identifier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Med_identifier_type_cd</a:t>
                      </a:r>
                      <a:r>
                        <a:rPr lang="en-US" dirty="0" smtClean="0"/>
                        <a:t>,</a:t>
                      </a:r>
                      <a:r>
                        <a:rPr lang="en-US" baseline="0" dirty="0" smtClean="0"/>
                        <a:t> Value, </a:t>
                      </a:r>
                      <a:r>
                        <a:rPr lang="en-US" baseline="0" dirty="0" err="1" smtClean="0"/>
                        <a:t>Active_ind</a:t>
                      </a:r>
                      <a:r>
                        <a:rPr lang="en-US" baseline="0" dirty="0" smtClean="0"/>
                        <a:t>, </a:t>
                      </a:r>
                      <a:r>
                        <a:rPr lang="en-US" baseline="0" dirty="0" err="1" smtClean="0"/>
                        <a:t>Primary_ind</a:t>
                      </a:r>
                      <a:endParaRPr lang="en-US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baseline="0" dirty="0" smtClean="0"/>
                        <a:t>Cost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Med_cost_hx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Cost_type_cd</a:t>
                      </a:r>
                      <a:r>
                        <a:rPr lang="en-US" dirty="0" smtClean="0"/>
                        <a:t>,</a:t>
                      </a:r>
                      <a:r>
                        <a:rPr lang="en-US" baseline="0" dirty="0" smtClean="0"/>
                        <a:t> Cost, </a:t>
                      </a:r>
                      <a:r>
                        <a:rPr lang="en-US" baseline="0" dirty="0" err="1" smtClean="0"/>
                        <a:t>Beg_effective_dt_tm</a:t>
                      </a:r>
                      <a:r>
                        <a:rPr lang="en-US" baseline="0" dirty="0" smtClean="0"/>
                        <a:t>, </a:t>
                      </a:r>
                      <a:r>
                        <a:rPr lang="en-US" baseline="0" dirty="0" err="1" smtClean="0"/>
                        <a:t>End_effective_dt_tm</a:t>
                      </a:r>
                      <a:endParaRPr lang="en-US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dirty="0" smtClean="0"/>
                        <a:t>Active Status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Med_flex_object_idx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Active_ind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PhaDBProductMgr</a:t>
            </a:r>
            <a:r>
              <a:rPr lang="en-US" dirty="0" smtClean="0"/>
              <a:t> – Identifiers Tab</a:t>
            </a:r>
            <a:endParaRPr lang="en-US" dirty="0"/>
          </a:p>
        </p:txBody>
      </p:sp>
      <p:pic>
        <p:nvPicPr>
          <p:cNvPr id="8196" name="Picture 4"/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/>
          <a:srcRect t="8979" b="8979"/>
          <a:stretch>
            <a:fillRect/>
          </a:stretch>
        </p:blipFill>
        <p:spPr bwMode="auto">
          <a:xfrm>
            <a:off x="468313" y="889000"/>
            <a:ext cx="8058150" cy="29497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2" name="Content Placeholder 8"/>
          <p:cNvGraphicFramePr>
            <a:graphicFrameLocks/>
          </p:cNvGraphicFramePr>
          <p:nvPr/>
        </p:nvGraphicFramePr>
        <p:xfrm>
          <a:off x="485745" y="4373594"/>
          <a:ext cx="7959515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051"/>
                <a:gridCol w="2173857"/>
                <a:gridCol w="2941607"/>
              </a:tblGrid>
              <a:tr h="360503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PhaDBProductMgr</a:t>
                      </a:r>
                      <a:r>
                        <a:rPr lang="en-US" baseline="0" dirty="0" smtClean="0"/>
                        <a:t> Field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Table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Field</a:t>
                      </a:r>
                      <a:endParaRPr lang="en-US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dirty="0" smtClean="0"/>
                        <a:t>Identifiers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Med_identifier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Med_identifier_type_cd</a:t>
                      </a:r>
                      <a:r>
                        <a:rPr lang="en-US" dirty="0" smtClean="0"/>
                        <a:t>,</a:t>
                      </a:r>
                      <a:r>
                        <a:rPr lang="en-US" baseline="0" dirty="0" smtClean="0"/>
                        <a:t> Value, </a:t>
                      </a:r>
                      <a:r>
                        <a:rPr lang="en-US" baseline="0" dirty="0" err="1" smtClean="0"/>
                        <a:t>Active_ind</a:t>
                      </a:r>
                      <a:r>
                        <a:rPr lang="en-US" baseline="0" dirty="0" smtClean="0"/>
                        <a:t>, </a:t>
                      </a:r>
                      <a:r>
                        <a:rPr lang="en-US" baseline="0" dirty="0" err="1" smtClean="0"/>
                        <a:t>Primary_ind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PhaDBProductMgr</a:t>
            </a:r>
            <a:r>
              <a:rPr lang="en-US" dirty="0" smtClean="0"/>
              <a:t> – Alt - 3</a:t>
            </a:r>
            <a:endParaRPr lang="en-US" dirty="0"/>
          </a:p>
        </p:txBody>
      </p:sp>
      <p:pic>
        <p:nvPicPr>
          <p:cNvPr id="47106" name="Picture 2"/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/>
          <a:srcRect t="2075" b="2075"/>
          <a:stretch>
            <a:fillRect/>
          </a:stretch>
        </p:blipFill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PhaDBProductMgr</a:t>
            </a:r>
            <a:r>
              <a:rPr lang="en-US" dirty="0" smtClean="0"/>
              <a:t> – Full query example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98407" y="863964"/>
            <a:ext cx="883344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800" dirty="0" smtClean="0"/>
          </a:p>
          <a:p>
            <a:endParaRPr lang="en-US" sz="800" dirty="0"/>
          </a:p>
        </p:txBody>
      </p:sp>
      <p:graphicFrame>
        <p:nvGraphicFramePr>
          <p:cNvPr id="1028" name="Object 4"/>
          <p:cNvGraphicFramePr>
            <a:graphicFrameLocks noChangeAspect="1"/>
          </p:cNvGraphicFramePr>
          <p:nvPr/>
        </p:nvGraphicFramePr>
        <p:xfrm>
          <a:off x="3587750" y="3086100"/>
          <a:ext cx="1966913" cy="685800"/>
        </p:xfrm>
        <a:graphic>
          <a:graphicData uri="http://schemas.openxmlformats.org/presentationml/2006/ole">
            <p:oleObj spid="_x0000_s1028" name="Package" showAsIcon="1" r:id="rId3" imgW="1967040" imgH="685440" progId="Package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PhaDBProductMgr</a:t>
            </a:r>
            <a:r>
              <a:rPr lang="en-US" dirty="0" smtClean="0"/>
              <a:t> – Full Query	</a:t>
            </a:r>
            <a:endParaRPr lang="en-US" dirty="0"/>
          </a:p>
        </p:txBody>
      </p:sp>
      <p:pic>
        <p:nvPicPr>
          <p:cNvPr id="40962" name="Picture 2"/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/>
          <a:srcRect l="3764" r="3764"/>
          <a:stretch>
            <a:fillRect/>
          </a:stretch>
        </p:blipFill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PhaDBProductMgr</a:t>
            </a:r>
            <a:r>
              <a:rPr lang="en-US" dirty="0" smtClean="0"/>
              <a:t> – Full Query (continued)	</a:t>
            </a:r>
            <a:endParaRPr lang="en-US" dirty="0"/>
          </a:p>
        </p:txBody>
      </p:sp>
      <p:pic>
        <p:nvPicPr>
          <p:cNvPr id="41986" name="Picture 2"/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/>
          <a:srcRect l="3633" r="3633"/>
          <a:stretch>
            <a:fillRect/>
          </a:stretch>
        </p:blipFill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PhaDBProductMgr</a:t>
            </a:r>
            <a:r>
              <a:rPr lang="en-US" dirty="0" smtClean="0"/>
              <a:t> – Full Query (continued)	</a:t>
            </a:r>
            <a:endParaRPr lang="en-US" dirty="0"/>
          </a:p>
        </p:txBody>
      </p:sp>
      <p:pic>
        <p:nvPicPr>
          <p:cNvPr id="43010" name="Picture 2"/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/>
          <a:srcRect l="3480" r="3480"/>
          <a:stretch>
            <a:fillRect/>
          </a:stretch>
        </p:blipFill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PhaDBProductMgr</a:t>
            </a:r>
            <a:r>
              <a:rPr lang="en-US" dirty="0" smtClean="0"/>
              <a:t> – Full Query (continued)	</a:t>
            </a:r>
            <a:endParaRPr lang="en-US" dirty="0"/>
          </a:p>
        </p:txBody>
      </p:sp>
      <p:pic>
        <p:nvPicPr>
          <p:cNvPr id="44034" name="Picture 2"/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/>
          <a:srcRect l="3872" r="3872"/>
          <a:stretch>
            <a:fillRect/>
          </a:stretch>
        </p:blipFill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PhaDBProductMgr</a:t>
            </a:r>
            <a:r>
              <a:rPr lang="en-US" dirty="0" smtClean="0"/>
              <a:t> – Full Query (continued)	</a:t>
            </a:r>
            <a:endParaRPr lang="en-US" dirty="0"/>
          </a:p>
        </p:txBody>
      </p:sp>
      <p:pic>
        <p:nvPicPr>
          <p:cNvPr id="45058" name="Picture 2"/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/>
          <a:srcRect l="3742" r="3742"/>
          <a:stretch>
            <a:fillRect/>
          </a:stretch>
        </p:blipFill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PhaDBProductMgr</a:t>
            </a:r>
            <a:r>
              <a:rPr lang="en-US" dirty="0" smtClean="0"/>
              <a:t> – Full Query (continued)	</a:t>
            </a:r>
            <a:endParaRPr lang="en-US" dirty="0"/>
          </a:p>
        </p:txBody>
      </p:sp>
      <p:pic>
        <p:nvPicPr>
          <p:cNvPr id="46082" name="Picture 2"/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/>
          <a:srcRect l="3568" r="3568"/>
          <a:stretch>
            <a:fillRect/>
          </a:stretch>
        </p:blipFill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Medication orders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3"/>
          </p:nvPr>
        </p:nvSpPr>
        <p:spPr>
          <a:xfrm>
            <a:off x="304800" y="1143000"/>
            <a:ext cx="8170618" cy="4707504"/>
          </a:xfrm>
        </p:spPr>
        <p:txBody>
          <a:bodyPr/>
          <a:lstStyle/>
          <a:p>
            <a:r>
              <a:rPr lang="en-US" dirty="0" smtClean="0"/>
              <a:t>Orders table</a:t>
            </a:r>
          </a:p>
          <a:p>
            <a:pPr lvl="1"/>
            <a:r>
              <a:rPr lang="en-US" dirty="0" smtClean="0"/>
              <a:t>One row per order</a:t>
            </a:r>
          </a:p>
          <a:p>
            <a:pPr lvl="1"/>
            <a:r>
              <a:rPr lang="en-US" dirty="0" smtClean="0"/>
              <a:t>Primary key – </a:t>
            </a:r>
            <a:r>
              <a:rPr lang="en-US" dirty="0" err="1" smtClean="0"/>
              <a:t>order_id</a:t>
            </a:r>
            <a:endParaRPr lang="en-US" dirty="0" smtClean="0"/>
          </a:p>
          <a:p>
            <a:pPr lvl="1"/>
            <a:r>
              <a:rPr lang="en-US" dirty="0" smtClean="0"/>
              <a:t>Other commonly important fields</a:t>
            </a:r>
          </a:p>
          <a:p>
            <a:pPr lvl="2"/>
            <a:r>
              <a:rPr lang="en-US" dirty="0" err="1" smtClean="0"/>
              <a:t>Activity_type_cd</a:t>
            </a:r>
            <a:r>
              <a:rPr lang="en-US" dirty="0" smtClean="0"/>
              <a:t> (</a:t>
            </a:r>
            <a:r>
              <a:rPr lang="en-US" dirty="0" err="1" smtClean="0"/>
              <a:t>codeset</a:t>
            </a:r>
            <a:r>
              <a:rPr lang="en-US" dirty="0" smtClean="0"/>
              <a:t> 106) Pharmacy</a:t>
            </a:r>
          </a:p>
          <a:p>
            <a:pPr lvl="2"/>
            <a:r>
              <a:rPr lang="en-US" dirty="0" err="1" smtClean="0"/>
              <a:t>Catalog_type_cd</a:t>
            </a:r>
            <a:r>
              <a:rPr lang="en-US" dirty="0" smtClean="0"/>
              <a:t> (</a:t>
            </a:r>
            <a:r>
              <a:rPr lang="en-US" dirty="0" err="1" smtClean="0"/>
              <a:t>codeset</a:t>
            </a:r>
            <a:r>
              <a:rPr lang="en-US" dirty="0" smtClean="0"/>
              <a:t> 6000) Pharmacy</a:t>
            </a:r>
          </a:p>
          <a:p>
            <a:pPr lvl="2"/>
            <a:r>
              <a:rPr lang="en-US" dirty="0" err="1" smtClean="0"/>
              <a:t>Med_order_type_cd</a:t>
            </a:r>
            <a:r>
              <a:rPr lang="en-US" dirty="0" smtClean="0"/>
              <a:t> (</a:t>
            </a:r>
            <a:r>
              <a:rPr lang="en-US" dirty="0" err="1" smtClean="0"/>
              <a:t>codeset</a:t>
            </a:r>
            <a:r>
              <a:rPr lang="en-US" dirty="0" smtClean="0"/>
              <a:t> 18309) – med, intermittent, continuous</a:t>
            </a:r>
          </a:p>
          <a:p>
            <a:pPr lvl="2"/>
            <a:r>
              <a:rPr lang="en-US" dirty="0" smtClean="0"/>
              <a:t>Clinical display line</a:t>
            </a:r>
          </a:p>
          <a:p>
            <a:pPr lvl="2"/>
            <a:r>
              <a:rPr lang="en-US" dirty="0" err="1" smtClean="0"/>
              <a:t>Last_update_provider_id</a:t>
            </a:r>
            <a:r>
              <a:rPr lang="en-US" dirty="0" smtClean="0"/>
              <a:t> – physician responsible for the order (link to PERSON table on </a:t>
            </a:r>
            <a:r>
              <a:rPr lang="en-US" dirty="0" err="1" smtClean="0"/>
              <a:t>person_id</a:t>
            </a:r>
            <a:r>
              <a:rPr lang="en-US" dirty="0" smtClean="0"/>
              <a:t> to display name of physician)</a:t>
            </a:r>
          </a:p>
          <a:p>
            <a:pPr lvl="2"/>
            <a:r>
              <a:rPr lang="en-US" dirty="0" err="1" smtClean="0"/>
              <a:t>Need_rx_verify_ind</a:t>
            </a:r>
            <a:r>
              <a:rPr lang="en-US" dirty="0" smtClean="0"/>
              <a:t> – 1 if order needs pharmacist verification, 0 if not</a:t>
            </a:r>
          </a:p>
          <a:p>
            <a:pPr lvl="2"/>
            <a:r>
              <a:rPr lang="en-US" dirty="0" err="1" smtClean="0"/>
              <a:t>Need_nurse_review_ind</a:t>
            </a:r>
            <a:endParaRPr lang="en-US" dirty="0" smtClean="0"/>
          </a:p>
          <a:p>
            <a:pPr lvl="2"/>
            <a:r>
              <a:rPr lang="en-US" dirty="0" err="1" smtClean="0"/>
              <a:t>Need_doctor_cosign_ind</a:t>
            </a:r>
            <a:endParaRPr lang="en-US" dirty="0" smtClean="0"/>
          </a:p>
          <a:p>
            <a:pPr lvl="2"/>
            <a:r>
              <a:rPr lang="en-US" dirty="0" err="1" smtClean="0"/>
              <a:t>Orig_ord_as_flag</a:t>
            </a: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Medication orders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3"/>
          </p:nvPr>
        </p:nvSpPr>
        <p:spPr>
          <a:xfrm>
            <a:off x="304800" y="1143000"/>
            <a:ext cx="8170618" cy="4707504"/>
          </a:xfrm>
        </p:spPr>
        <p:txBody>
          <a:bodyPr/>
          <a:lstStyle/>
          <a:p>
            <a:r>
              <a:rPr lang="en-US" dirty="0" smtClean="0"/>
              <a:t>Orders table</a:t>
            </a:r>
          </a:p>
          <a:p>
            <a:pPr lvl="1"/>
            <a:r>
              <a:rPr lang="en-US" dirty="0" smtClean="0"/>
              <a:t>One row per order</a:t>
            </a:r>
          </a:p>
          <a:p>
            <a:pPr lvl="2"/>
            <a:r>
              <a:rPr lang="en-US" dirty="0" smtClean="0"/>
              <a:t>Parent order – </a:t>
            </a:r>
            <a:r>
              <a:rPr lang="en-US" dirty="0" err="1" smtClean="0"/>
              <a:t>order_id</a:t>
            </a:r>
            <a:r>
              <a:rPr lang="en-US" dirty="0" smtClean="0"/>
              <a:t> of original order</a:t>
            </a:r>
          </a:p>
          <a:p>
            <a:pPr lvl="3"/>
            <a:r>
              <a:rPr lang="en-US" dirty="0" smtClean="0"/>
              <a:t>CPOE order </a:t>
            </a:r>
          </a:p>
          <a:p>
            <a:pPr lvl="3"/>
            <a:r>
              <a:rPr lang="en-US" dirty="0" smtClean="0"/>
              <a:t>Pharmacist entered order through PharmNet</a:t>
            </a:r>
          </a:p>
          <a:p>
            <a:pPr lvl="3"/>
            <a:r>
              <a:rPr lang="en-US" dirty="0" err="1" smtClean="0"/>
              <a:t>Template_order_id</a:t>
            </a:r>
            <a:r>
              <a:rPr lang="en-US" dirty="0" smtClean="0"/>
              <a:t> = 0</a:t>
            </a:r>
          </a:p>
          <a:p>
            <a:pPr lvl="2"/>
            <a:r>
              <a:rPr lang="en-US" dirty="0" smtClean="0"/>
              <a:t>Child orders</a:t>
            </a:r>
          </a:p>
          <a:p>
            <a:pPr lvl="3"/>
            <a:r>
              <a:rPr lang="en-US" dirty="0" smtClean="0"/>
              <a:t>Each EMAR task creation causes another child order to be written</a:t>
            </a:r>
          </a:p>
          <a:p>
            <a:pPr lvl="3"/>
            <a:r>
              <a:rPr lang="en-US" dirty="0" smtClean="0"/>
              <a:t>Links to the parent order through the </a:t>
            </a:r>
            <a:r>
              <a:rPr lang="en-US" dirty="0" err="1" smtClean="0"/>
              <a:t>Template_order_id</a:t>
            </a:r>
            <a:r>
              <a:rPr lang="en-US" dirty="0" smtClean="0"/>
              <a:t> field</a:t>
            </a:r>
          </a:p>
          <a:p>
            <a:pPr lvl="4"/>
            <a:r>
              <a:rPr lang="en-US" dirty="0" err="1" smtClean="0"/>
              <a:t>Template_order_id</a:t>
            </a:r>
            <a:r>
              <a:rPr lang="en-US" dirty="0" smtClean="0"/>
              <a:t> = </a:t>
            </a:r>
            <a:r>
              <a:rPr lang="en-US" dirty="0" err="1" smtClean="0"/>
              <a:t>Order_id</a:t>
            </a:r>
            <a:r>
              <a:rPr lang="en-US" dirty="0" smtClean="0"/>
              <a:t> of the parent order</a:t>
            </a:r>
          </a:p>
          <a:p>
            <a:pPr lvl="1"/>
            <a:r>
              <a:rPr lang="en-US" dirty="0" smtClean="0"/>
              <a:t>So when someone asks “Give me all of the orders for amoxicillin over the last 3 months”</a:t>
            </a:r>
          </a:p>
          <a:p>
            <a:pPr lvl="2"/>
            <a:r>
              <a:rPr lang="en-US" dirty="0" smtClean="0"/>
              <a:t>If you just want the parent orders</a:t>
            </a:r>
          </a:p>
          <a:p>
            <a:pPr lvl="3"/>
            <a:r>
              <a:rPr lang="en-US" dirty="0" smtClean="0"/>
              <a:t>filter by “where </a:t>
            </a:r>
            <a:r>
              <a:rPr lang="en-US" dirty="0" err="1" smtClean="0"/>
              <a:t>template_order_id</a:t>
            </a:r>
            <a:r>
              <a:rPr lang="en-US" dirty="0" smtClean="0"/>
              <a:t> =0”</a:t>
            </a:r>
          </a:p>
          <a:p>
            <a:pPr lvl="2"/>
            <a:r>
              <a:rPr lang="en-US" dirty="0" smtClean="0"/>
              <a:t>If you want parent and child orders</a:t>
            </a:r>
          </a:p>
          <a:p>
            <a:pPr lvl="3"/>
            <a:r>
              <a:rPr lang="en-US" dirty="0" smtClean="0"/>
              <a:t>No filter on </a:t>
            </a:r>
            <a:r>
              <a:rPr lang="en-US" dirty="0" err="1" smtClean="0"/>
              <a:t>template_order_id</a:t>
            </a:r>
            <a:r>
              <a:rPr lang="en-US" dirty="0" smtClean="0"/>
              <a:t> but you may want to sort to keep the related orders together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 every order there is at least one action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3"/>
          </p:nvPr>
        </p:nvSpPr>
        <p:spPr>
          <a:xfrm>
            <a:off x="304800" y="1219200"/>
            <a:ext cx="8170618" cy="4707504"/>
          </a:xfrm>
        </p:spPr>
        <p:txBody>
          <a:bodyPr/>
          <a:lstStyle/>
          <a:p>
            <a:r>
              <a:rPr lang="en-US" dirty="0" err="1" smtClean="0"/>
              <a:t>Order_action</a:t>
            </a:r>
            <a:r>
              <a:rPr lang="en-US" dirty="0" smtClean="0"/>
              <a:t> table</a:t>
            </a:r>
          </a:p>
          <a:p>
            <a:pPr lvl="1"/>
            <a:r>
              <a:rPr lang="en-US" dirty="0" smtClean="0"/>
              <a:t>Link from ORDERS table on </a:t>
            </a:r>
            <a:r>
              <a:rPr lang="en-US" dirty="0" err="1" smtClean="0"/>
              <a:t>order_id</a:t>
            </a:r>
            <a:endParaRPr lang="en-US" dirty="0" smtClean="0"/>
          </a:p>
          <a:p>
            <a:pPr lvl="1"/>
            <a:r>
              <a:rPr lang="en-US" dirty="0" smtClean="0"/>
              <a:t>Key fields</a:t>
            </a:r>
          </a:p>
          <a:p>
            <a:pPr lvl="2"/>
            <a:r>
              <a:rPr lang="en-US" dirty="0" err="1" smtClean="0"/>
              <a:t>Action_type_cd</a:t>
            </a:r>
            <a:r>
              <a:rPr lang="en-US" dirty="0" smtClean="0"/>
              <a:t> (</a:t>
            </a:r>
            <a:r>
              <a:rPr lang="en-US" dirty="0" err="1" smtClean="0"/>
              <a:t>codeset</a:t>
            </a:r>
            <a:r>
              <a:rPr lang="en-US" dirty="0" smtClean="0"/>
              <a:t> 6003) – order, modify, discontinue, reschedule</a:t>
            </a:r>
          </a:p>
          <a:p>
            <a:pPr lvl="2"/>
            <a:r>
              <a:rPr lang="en-US" dirty="0" err="1" smtClean="0"/>
              <a:t>Action_dt_tm</a:t>
            </a:r>
            <a:r>
              <a:rPr lang="en-US" dirty="0" smtClean="0"/>
              <a:t> – the date and time of the action</a:t>
            </a:r>
          </a:p>
          <a:p>
            <a:pPr lvl="2"/>
            <a:r>
              <a:rPr lang="en-US" dirty="0" err="1" smtClean="0"/>
              <a:t>Action_personnel_id</a:t>
            </a:r>
            <a:r>
              <a:rPr lang="en-US" dirty="0" smtClean="0"/>
              <a:t> – </a:t>
            </a:r>
            <a:r>
              <a:rPr lang="en-US" dirty="0" err="1" smtClean="0"/>
              <a:t>person_id</a:t>
            </a:r>
            <a:r>
              <a:rPr lang="en-US" dirty="0" smtClean="0"/>
              <a:t> of the individual who performed the order action</a:t>
            </a:r>
          </a:p>
          <a:p>
            <a:pPr lvl="2"/>
            <a:r>
              <a:rPr lang="en-US" dirty="0" err="1" smtClean="0"/>
              <a:t>Action_sequence</a:t>
            </a:r>
            <a:endParaRPr lang="en-US" dirty="0" smtClean="0"/>
          </a:p>
          <a:p>
            <a:pPr lvl="1"/>
            <a:r>
              <a:rPr lang="en-US" dirty="0" smtClean="0"/>
              <a:t>Many to one relationship with ORDERS table row</a:t>
            </a:r>
          </a:p>
          <a:p>
            <a:pPr lvl="1"/>
            <a:r>
              <a:rPr lang="en-US" dirty="0" smtClean="0"/>
              <a:t>Can often be audited for accuracy by comparing the output to the History </a:t>
            </a:r>
            <a:r>
              <a:rPr lang="en-US" dirty="0" err="1" smtClean="0"/>
              <a:t>subtab</a:t>
            </a:r>
            <a:r>
              <a:rPr lang="en-US" dirty="0" smtClean="0"/>
              <a:t> under </a:t>
            </a:r>
            <a:r>
              <a:rPr lang="en-US" dirty="0" err="1" smtClean="0"/>
              <a:t>Order_information</a:t>
            </a:r>
            <a:r>
              <a:rPr lang="en-US" dirty="0" smtClean="0"/>
              <a:t> for that order in PowerChart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Details, details, details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3"/>
          </p:nvPr>
        </p:nvSpPr>
        <p:spPr>
          <a:xfrm>
            <a:off x="304800" y="1219200"/>
            <a:ext cx="8170618" cy="4707504"/>
          </a:xfrm>
        </p:spPr>
        <p:txBody>
          <a:bodyPr/>
          <a:lstStyle/>
          <a:p>
            <a:r>
              <a:rPr lang="en-US" dirty="0" err="1" smtClean="0"/>
              <a:t>Order_detail</a:t>
            </a:r>
            <a:r>
              <a:rPr lang="en-US" dirty="0" smtClean="0"/>
              <a:t> table</a:t>
            </a:r>
          </a:p>
          <a:p>
            <a:pPr lvl="1"/>
            <a:r>
              <a:rPr lang="en-US" dirty="0" smtClean="0"/>
              <a:t>Link from ORDERS table on </a:t>
            </a:r>
            <a:r>
              <a:rPr lang="en-US" dirty="0" err="1" smtClean="0"/>
              <a:t>order_id</a:t>
            </a:r>
            <a:endParaRPr lang="en-US" dirty="0" smtClean="0"/>
          </a:p>
          <a:p>
            <a:pPr lvl="1"/>
            <a:r>
              <a:rPr lang="en-US" dirty="0" smtClean="0"/>
              <a:t>Key fields</a:t>
            </a:r>
          </a:p>
          <a:p>
            <a:pPr lvl="2"/>
            <a:r>
              <a:rPr lang="en-US" dirty="0" err="1" smtClean="0"/>
              <a:t>Oe_field_meaning_id</a:t>
            </a:r>
            <a:r>
              <a:rPr lang="en-US" dirty="0" smtClean="0"/>
              <a:t> (link back to </a:t>
            </a:r>
            <a:r>
              <a:rPr lang="en-US" dirty="0" err="1" smtClean="0"/>
              <a:t>order_entry_fields</a:t>
            </a:r>
            <a:r>
              <a:rPr lang="en-US" dirty="0" smtClean="0"/>
              <a:t> table)</a:t>
            </a:r>
          </a:p>
          <a:p>
            <a:pPr lvl="2"/>
            <a:r>
              <a:rPr lang="en-US" dirty="0" err="1" smtClean="0"/>
              <a:t>Oe_field_id</a:t>
            </a:r>
            <a:r>
              <a:rPr lang="en-US" dirty="0" smtClean="0"/>
              <a:t> (link back to </a:t>
            </a:r>
            <a:r>
              <a:rPr lang="en-US" dirty="0" err="1" smtClean="0"/>
              <a:t>order_entry_fields</a:t>
            </a:r>
            <a:r>
              <a:rPr lang="en-US" dirty="0" smtClean="0"/>
              <a:t> table)</a:t>
            </a:r>
          </a:p>
          <a:p>
            <a:pPr lvl="2"/>
            <a:r>
              <a:rPr lang="en-US" dirty="0" err="1" smtClean="0"/>
              <a:t>Oe_field_value</a:t>
            </a:r>
            <a:endParaRPr lang="en-US" dirty="0" smtClean="0"/>
          </a:p>
          <a:p>
            <a:pPr lvl="2"/>
            <a:r>
              <a:rPr lang="en-US" dirty="0" err="1" smtClean="0"/>
              <a:t>Action_sequence</a:t>
            </a:r>
            <a:endParaRPr lang="en-US" dirty="0" smtClean="0"/>
          </a:p>
          <a:p>
            <a:pPr lvl="1"/>
            <a:r>
              <a:rPr lang="en-US" dirty="0" smtClean="0"/>
              <a:t>Many to one relationship with ORDERS table row and detail rows are added with each order action (e.g. modify, reschedule, void, etc.)</a:t>
            </a:r>
          </a:p>
          <a:p>
            <a:pPr lvl="1"/>
            <a:r>
              <a:rPr lang="en-US" dirty="0" smtClean="0"/>
              <a:t>Can often be audited from the order information tab in PowerChart using the Details </a:t>
            </a:r>
            <a:r>
              <a:rPr lang="en-US" dirty="0" err="1" smtClean="0"/>
              <a:t>subtab</a:t>
            </a:r>
            <a:r>
              <a:rPr lang="en-US" dirty="0" smtClean="0"/>
              <a:t> and/or the History </a:t>
            </a:r>
            <a:r>
              <a:rPr lang="en-US" dirty="0" err="1" smtClean="0"/>
              <a:t>subtab</a:t>
            </a:r>
            <a:endParaRPr lang="en-US" dirty="0" smtClean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Medication orders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3"/>
          </p:nvPr>
        </p:nvSpPr>
        <p:spPr>
          <a:xfrm>
            <a:off x="304800" y="1143000"/>
            <a:ext cx="8170618" cy="4707504"/>
          </a:xfrm>
        </p:spPr>
        <p:txBody>
          <a:bodyPr/>
          <a:lstStyle/>
          <a:p>
            <a:r>
              <a:rPr lang="en-US" dirty="0" err="1" smtClean="0"/>
              <a:t>Order_dispense</a:t>
            </a:r>
            <a:r>
              <a:rPr lang="en-US" dirty="0" smtClean="0"/>
              <a:t> table</a:t>
            </a:r>
          </a:p>
          <a:p>
            <a:pPr lvl="1"/>
            <a:r>
              <a:rPr lang="en-US" dirty="0" smtClean="0"/>
              <a:t>Link from ORDERS table on </a:t>
            </a:r>
            <a:r>
              <a:rPr lang="en-US" dirty="0" err="1" smtClean="0"/>
              <a:t>order_id</a:t>
            </a:r>
            <a:endParaRPr lang="en-US" dirty="0" smtClean="0"/>
          </a:p>
          <a:p>
            <a:pPr lvl="1"/>
            <a:r>
              <a:rPr lang="en-US" dirty="0" smtClean="0"/>
              <a:t>Key fields</a:t>
            </a:r>
          </a:p>
          <a:p>
            <a:pPr lvl="2"/>
            <a:r>
              <a:rPr lang="en-US" dirty="0" err="1" smtClean="0"/>
              <a:t>Pharm_type_cd</a:t>
            </a:r>
            <a:r>
              <a:rPr lang="en-US" dirty="0" smtClean="0"/>
              <a:t> (</a:t>
            </a:r>
            <a:r>
              <a:rPr lang="en-US" dirty="0" err="1" smtClean="0"/>
              <a:t>codeset</a:t>
            </a:r>
            <a:r>
              <a:rPr lang="en-US" dirty="0" smtClean="0"/>
              <a:t> 4500)</a:t>
            </a:r>
          </a:p>
          <a:p>
            <a:pPr lvl="2"/>
            <a:r>
              <a:rPr lang="en-US" dirty="0" err="1" smtClean="0"/>
              <a:t>Need_rx_verify_ind</a:t>
            </a:r>
            <a:r>
              <a:rPr lang="en-US" dirty="0" smtClean="0"/>
              <a:t> here as well</a:t>
            </a:r>
          </a:p>
          <a:p>
            <a:pPr lvl="2"/>
            <a:r>
              <a:rPr lang="en-US" dirty="0" err="1" smtClean="0"/>
              <a:t>Last_ver_act_seq</a:t>
            </a:r>
            <a:endParaRPr lang="en-US" dirty="0" smtClean="0"/>
          </a:p>
          <a:p>
            <a:pPr lvl="2"/>
            <a:r>
              <a:rPr lang="en-US" dirty="0" err="1" smtClean="0"/>
              <a:t>Last_ver_ingr_seq</a:t>
            </a:r>
            <a:endParaRPr lang="en-US" dirty="0" smtClean="0"/>
          </a:p>
          <a:p>
            <a:pPr lvl="2"/>
            <a:r>
              <a:rPr lang="en-US" dirty="0" err="1" smtClean="0"/>
              <a:t>Legal_status_cd</a:t>
            </a:r>
            <a:r>
              <a:rPr lang="en-US" dirty="0" smtClean="0"/>
              <a:t> (</a:t>
            </a:r>
            <a:r>
              <a:rPr lang="en-US" dirty="0" err="1" smtClean="0"/>
              <a:t>codeset</a:t>
            </a:r>
            <a:r>
              <a:rPr lang="en-US" dirty="0" smtClean="0"/>
              <a:t> 4200)</a:t>
            </a:r>
          </a:p>
          <a:p>
            <a:pPr lvl="1"/>
            <a:r>
              <a:rPr lang="en-US" dirty="0" smtClean="0"/>
              <a:t>One to one relationship with the parent order row from ORDERS</a:t>
            </a:r>
          </a:p>
          <a:p>
            <a:pPr lvl="1"/>
            <a:r>
              <a:rPr lang="en-US" dirty="0" smtClean="0"/>
              <a:t>Retail PharmNet clients</a:t>
            </a:r>
          </a:p>
          <a:p>
            <a:pPr lvl="2"/>
            <a:r>
              <a:rPr lang="en-US" dirty="0" smtClean="0"/>
              <a:t>Prescription number resides on this table</a:t>
            </a:r>
          </a:p>
          <a:p>
            <a:pPr lvl="3"/>
            <a:r>
              <a:rPr lang="en-US" dirty="0" smtClean="0"/>
              <a:t>RX_NBR</a:t>
            </a:r>
          </a:p>
          <a:p>
            <a:pPr lvl="3"/>
            <a:r>
              <a:rPr lang="en-US" dirty="0" smtClean="0"/>
              <a:t>RX_NBR_CD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Ingredients and Products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3"/>
          </p:nvPr>
        </p:nvSpPr>
        <p:spPr>
          <a:xfrm>
            <a:off x="304800" y="1143000"/>
            <a:ext cx="8170618" cy="4707504"/>
          </a:xfrm>
        </p:spPr>
        <p:txBody>
          <a:bodyPr/>
          <a:lstStyle/>
          <a:p>
            <a:r>
              <a:rPr lang="en-US" dirty="0" err="1" smtClean="0"/>
              <a:t>Order_ingredient</a:t>
            </a:r>
            <a:r>
              <a:rPr lang="en-US" dirty="0" smtClean="0"/>
              <a:t> table</a:t>
            </a:r>
          </a:p>
          <a:p>
            <a:pPr lvl="1"/>
            <a:r>
              <a:rPr lang="en-US" dirty="0" smtClean="0"/>
              <a:t>Link from ORDERS table on </a:t>
            </a:r>
            <a:r>
              <a:rPr lang="en-US" dirty="0" err="1" smtClean="0"/>
              <a:t>order_id</a:t>
            </a:r>
            <a:endParaRPr lang="en-US" dirty="0" smtClean="0"/>
          </a:p>
          <a:p>
            <a:pPr lvl="1"/>
            <a:r>
              <a:rPr lang="en-US" dirty="0" smtClean="0"/>
              <a:t>Key fields</a:t>
            </a:r>
          </a:p>
          <a:p>
            <a:pPr lvl="2"/>
            <a:r>
              <a:rPr lang="en-US" dirty="0" err="1" smtClean="0"/>
              <a:t>Action_sequence</a:t>
            </a:r>
            <a:endParaRPr lang="en-US" dirty="0" smtClean="0"/>
          </a:p>
          <a:p>
            <a:pPr lvl="2"/>
            <a:r>
              <a:rPr lang="en-US" dirty="0" err="1" smtClean="0"/>
              <a:t>Comp_sequence</a:t>
            </a:r>
            <a:endParaRPr lang="en-US" dirty="0" smtClean="0"/>
          </a:p>
          <a:p>
            <a:pPr lvl="2"/>
            <a:r>
              <a:rPr lang="en-US" dirty="0" err="1" smtClean="0"/>
              <a:t>Ingredient_type_flag</a:t>
            </a:r>
            <a:endParaRPr lang="en-US" dirty="0" smtClean="0"/>
          </a:p>
          <a:p>
            <a:r>
              <a:rPr lang="en-US" dirty="0" err="1" smtClean="0"/>
              <a:t>Order_product</a:t>
            </a:r>
            <a:r>
              <a:rPr lang="en-US" dirty="0" smtClean="0"/>
              <a:t> table</a:t>
            </a:r>
          </a:p>
          <a:p>
            <a:pPr lvl="1"/>
            <a:r>
              <a:rPr lang="en-US" dirty="0" smtClean="0"/>
              <a:t>One row per ingredient</a:t>
            </a:r>
          </a:p>
          <a:p>
            <a:pPr lvl="1"/>
            <a:r>
              <a:rPr lang="en-US" dirty="0" smtClean="0"/>
              <a:t>Links to ORDERS on </a:t>
            </a:r>
            <a:r>
              <a:rPr lang="en-US" dirty="0" err="1" smtClean="0"/>
              <a:t>order_id</a:t>
            </a:r>
            <a:endParaRPr lang="en-US" dirty="0" smtClean="0"/>
          </a:p>
          <a:p>
            <a:pPr lvl="1"/>
            <a:r>
              <a:rPr lang="en-US" dirty="0" smtClean="0"/>
              <a:t>Key fields</a:t>
            </a:r>
          </a:p>
          <a:p>
            <a:pPr lvl="2"/>
            <a:r>
              <a:rPr lang="en-US" dirty="0" err="1" smtClean="0"/>
              <a:t>Item_id</a:t>
            </a:r>
            <a:r>
              <a:rPr lang="en-US" dirty="0" smtClean="0"/>
              <a:t> (link to MED_IDENTIFIER for description, NDC, etc.)</a:t>
            </a:r>
          </a:p>
          <a:p>
            <a:pPr lvl="2"/>
            <a:r>
              <a:rPr lang="en-US" dirty="0" err="1" smtClean="0"/>
              <a:t>Action_sequence</a:t>
            </a:r>
            <a:endParaRPr lang="en-US" dirty="0" smtClean="0"/>
          </a:p>
          <a:p>
            <a:pPr lvl="2"/>
            <a:r>
              <a:rPr lang="en-US" dirty="0" err="1" smtClean="0"/>
              <a:t>Ingred_sequence</a:t>
            </a:r>
            <a:endParaRPr lang="en-US" dirty="0" smtClean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Ce_event_order_link</a:t>
            </a:r>
            <a:r>
              <a:rPr lang="en-US" dirty="0" smtClean="0"/>
              <a:t> &amp; </a:t>
            </a:r>
            <a:r>
              <a:rPr lang="en-US" dirty="0" err="1" smtClean="0"/>
              <a:t>Clinical_event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3"/>
          </p:nvPr>
        </p:nvSpPr>
        <p:spPr>
          <a:xfrm>
            <a:off x="304800" y="1219200"/>
            <a:ext cx="8170618" cy="5257800"/>
          </a:xfrm>
        </p:spPr>
        <p:txBody>
          <a:bodyPr/>
          <a:lstStyle/>
          <a:p>
            <a:r>
              <a:rPr lang="en-US" dirty="0" err="1" smtClean="0"/>
              <a:t>Ce_event_order_link</a:t>
            </a:r>
            <a:r>
              <a:rPr lang="en-US" dirty="0" smtClean="0"/>
              <a:t> table</a:t>
            </a:r>
          </a:p>
          <a:p>
            <a:pPr lvl="1"/>
            <a:r>
              <a:rPr lang="en-US" dirty="0" smtClean="0"/>
              <a:t>Link from ORDERS table on order_id.  Translates from order to results charted for that order.  Could shift from template order to child order.</a:t>
            </a:r>
          </a:p>
          <a:p>
            <a:pPr lvl="1"/>
            <a:r>
              <a:rPr lang="en-US" dirty="0" smtClean="0"/>
              <a:t>Key fields</a:t>
            </a:r>
          </a:p>
          <a:p>
            <a:pPr lvl="2"/>
            <a:r>
              <a:rPr lang="en-US" dirty="0" smtClean="0"/>
              <a:t>Order_id</a:t>
            </a:r>
          </a:p>
          <a:p>
            <a:pPr lvl="2"/>
            <a:r>
              <a:rPr lang="en-US" dirty="0" err="1" smtClean="0"/>
              <a:t>Event_id</a:t>
            </a:r>
            <a:endParaRPr lang="en-US" dirty="0" smtClean="0"/>
          </a:p>
          <a:p>
            <a:r>
              <a:rPr lang="en-US" dirty="0" err="1" smtClean="0"/>
              <a:t>Clinical_event</a:t>
            </a:r>
            <a:r>
              <a:rPr lang="en-US" dirty="0" smtClean="0"/>
              <a:t> table</a:t>
            </a:r>
          </a:p>
          <a:p>
            <a:pPr lvl="1"/>
            <a:r>
              <a:rPr lang="en-US" dirty="0" smtClean="0"/>
              <a:t>Core table for storing documented results</a:t>
            </a:r>
          </a:p>
          <a:p>
            <a:pPr lvl="1"/>
            <a:r>
              <a:rPr lang="en-US" dirty="0" smtClean="0"/>
              <a:t>Key Fields</a:t>
            </a:r>
          </a:p>
          <a:p>
            <a:pPr lvl="2"/>
            <a:r>
              <a:rPr lang="en-US" dirty="0" smtClean="0"/>
              <a:t>Use </a:t>
            </a:r>
            <a:r>
              <a:rPr lang="en-US" dirty="0" err="1" smtClean="0"/>
              <a:t>Event_class_cd</a:t>
            </a:r>
            <a:r>
              <a:rPr lang="en-US" dirty="0" smtClean="0"/>
              <a:t> of MED can be used to determine if result is for a Medication</a:t>
            </a:r>
          </a:p>
          <a:p>
            <a:pPr lvl="2"/>
            <a:r>
              <a:rPr lang="en-US" dirty="0" smtClean="0"/>
              <a:t>Use </a:t>
            </a:r>
            <a:r>
              <a:rPr lang="en-US" dirty="0" err="1" smtClean="0"/>
              <a:t>Subtable_bit_map</a:t>
            </a:r>
            <a:r>
              <a:rPr lang="en-US" dirty="0" smtClean="0"/>
              <a:t> to determine other tables that supply more information</a:t>
            </a:r>
          </a:p>
          <a:p>
            <a:pPr lvl="2"/>
            <a:r>
              <a:rPr lang="en-US" dirty="0" err="1" smtClean="0"/>
              <a:t>Event_end_dt_tm</a:t>
            </a:r>
            <a:r>
              <a:rPr lang="en-US" dirty="0" smtClean="0"/>
              <a:t> – Time Medication was given.</a:t>
            </a:r>
          </a:p>
          <a:p>
            <a:pPr lvl="1"/>
            <a:endParaRPr lang="en-US" dirty="0" smtClean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Ce_med_result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3"/>
          </p:nvPr>
        </p:nvSpPr>
        <p:spPr>
          <a:xfrm>
            <a:off x="304800" y="1219200"/>
            <a:ext cx="8170618" cy="4707504"/>
          </a:xfrm>
        </p:spPr>
        <p:txBody>
          <a:bodyPr/>
          <a:lstStyle/>
          <a:p>
            <a:r>
              <a:rPr lang="en-US" dirty="0" err="1" smtClean="0"/>
              <a:t>Ce_med_result</a:t>
            </a:r>
            <a:r>
              <a:rPr lang="en-US" dirty="0" smtClean="0"/>
              <a:t> table</a:t>
            </a:r>
          </a:p>
          <a:p>
            <a:pPr lvl="1"/>
            <a:r>
              <a:rPr lang="en-US" dirty="0" smtClean="0"/>
              <a:t>Links to CLINICAL_EVENT by </a:t>
            </a:r>
            <a:r>
              <a:rPr lang="en-US" dirty="0" err="1" smtClean="0"/>
              <a:t>Event_id</a:t>
            </a:r>
            <a:endParaRPr lang="en-US" dirty="0" smtClean="0"/>
          </a:p>
          <a:p>
            <a:pPr lvl="1"/>
            <a:r>
              <a:rPr lang="en-US" dirty="0" smtClean="0"/>
              <a:t>All result data specific to medications</a:t>
            </a:r>
          </a:p>
          <a:p>
            <a:pPr lvl="1"/>
            <a:r>
              <a:rPr lang="en-US" dirty="0" smtClean="0"/>
              <a:t>Key fields</a:t>
            </a:r>
          </a:p>
          <a:p>
            <a:pPr lvl="2"/>
            <a:r>
              <a:rPr lang="en-US" dirty="0" err="1" smtClean="0"/>
              <a:t>IV_event_cd</a:t>
            </a:r>
            <a:r>
              <a:rPr lang="en-US" dirty="0" smtClean="0"/>
              <a:t> – Defines type of IV event (Begin Bag, Rate change, etc)</a:t>
            </a:r>
          </a:p>
          <a:p>
            <a:pPr lvl="2">
              <a:buNone/>
            </a:pPr>
            <a:endParaRPr lang="en-US" dirty="0" smtClean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Inventory Transactions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3"/>
          </p:nvPr>
        </p:nvSpPr>
        <p:spPr>
          <a:xfrm>
            <a:off x="304800" y="1219200"/>
            <a:ext cx="8170618" cy="5257800"/>
          </a:xfrm>
        </p:spPr>
        <p:txBody>
          <a:bodyPr/>
          <a:lstStyle/>
          <a:p>
            <a:r>
              <a:rPr lang="en-US" dirty="0" err="1" smtClean="0"/>
              <a:t>MM_trans_header</a:t>
            </a:r>
            <a:r>
              <a:rPr lang="en-US" dirty="0" smtClean="0"/>
              <a:t> table</a:t>
            </a:r>
          </a:p>
          <a:p>
            <a:pPr lvl="1"/>
            <a:r>
              <a:rPr lang="en-US" dirty="0" smtClean="0"/>
              <a:t>Link from DISPENSE_HX table is </a:t>
            </a:r>
            <a:r>
              <a:rPr lang="en-US" dirty="0" err="1" smtClean="0"/>
              <a:t>Parent_entity_id</a:t>
            </a:r>
            <a:r>
              <a:rPr lang="en-US" dirty="0" smtClean="0"/>
              <a:t> / </a:t>
            </a:r>
            <a:r>
              <a:rPr lang="en-US" dirty="0" err="1" smtClean="0"/>
              <a:t>Parent_entity_name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Parent table for all inventory transactions such as adjustments, transfers, and receipts.</a:t>
            </a:r>
          </a:p>
          <a:p>
            <a:pPr lvl="1"/>
            <a:r>
              <a:rPr lang="en-US" dirty="0" smtClean="0"/>
              <a:t>ORDERS table on order_id.  Translates from order to results charted for that order.  Could shift from template order to child order.</a:t>
            </a:r>
          </a:p>
          <a:p>
            <a:pPr lvl="1"/>
            <a:r>
              <a:rPr lang="en-US" dirty="0" smtClean="0"/>
              <a:t>Key fields</a:t>
            </a:r>
          </a:p>
          <a:p>
            <a:pPr lvl="2"/>
            <a:r>
              <a:rPr lang="en-US" dirty="0" err="1" smtClean="0"/>
              <a:t>Trans_type_cd</a:t>
            </a:r>
            <a:endParaRPr lang="en-US" dirty="0" smtClean="0"/>
          </a:p>
          <a:p>
            <a:pPr lvl="2"/>
            <a:r>
              <a:rPr lang="en-US" dirty="0" err="1" smtClean="0"/>
              <a:t>Parent_entity_id</a:t>
            </a:r>
            <a:r>
              <a:rPr lang="en-US" dirty="0" smtClean="0"/>
              <a:t> / </a:t>
            </a:r>
            <a:r>
              <a:rPr lang="en-US" dirty="0" err="1" smtClean="0"/>
              <a:t>Parent_entity_name</a:t>
            </a:r>
            <a:r>
              <a:rPr lang="en-US" dirty="0" smtClean="0"/>
              <a:t> – </a:t>
            </a:r>
          </a:p>
          <a:p>
            <a:r>
              <a:rPr lang="en-US" dirty="0" err="1" smtClean="0"/>
              <a:t>MM_trans_line</a:t>
            </a:r>
            <a:r>
              <a:rPr lang="en-US" dirty="0" smtClean="0"/>
              <a:t> table</a:t>
            </a:r>
          </a:p>
          <a:p>
            <a:pPr lvl="1"/>
            <a:r>
              <a:rPr lang="en-US" dirty="0" smtClean="0"/>
              <a:t>Table for storing inventory transaction details such as item_id, packaging, cost, quantity on hand, and location.</a:t>
            </a:r>
          </a:p>
          <a:p>
            <a:pPr lvl="1"/>
            <a:r>
              <a:rPr lang="en-US" dirty="0" smtClean="0"/>
              <a:t>Links to patient / encounter to drive clinical analysis of inventory transactions.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Inventory Transactions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3"/>
          </p:nvPr>
        </p:nvSpPr>
        <p:spPr>
          <a:xfrm>
            <a:off x="304800" y="1219200"/>
            <a:ext cx="8170618" cy="5257800"/>
          </a:xfrm>
        </p:spPr>
        <p:txBody>
          <a:bodyPr/>
          <a:lstStyle/>
          <a:p>
            <a:pPr lvl="1"/>
            <a:r>
              <a:rPr lang="en-US" dirty="0" smtClean="0"/>
              <a:t>Key Fields</a:t>
            </a:r>
          </a:p>
          <a:p>
            <a:pPr lvl="2"/>
            <a:r>
              <a:rPr lang="en-US" dirty="0" smtClean="0"/>
              <a:t>Item_id, </a:t>
            </a:r>
            <a:r>
              <a:rPr lang="en-US" dirty="0" err="1" smtClean="0"/>
              <a:t>patient_id</a:t>
            </a:r>
            <a:r>
              <a:rPr lang="en-US" dirty="0" smtClean="0"/>
              <a:t>, </a:t>
            </a:r>
            <a:r>
              <a:rPr lang="en-US" dirty="0" err="1" smtClean="0"/>
              <a:t>encntr_id</a:t>
            </a:r>
            <a:r>
              <a:rPr lang="en-US" dirty="0" smtClean="0"/>
              <a:t>, </a:t>
            </a:r>
          </a:p>
          <a:p>
            <a:r>
              <a:rPr lang="en-US" dirty="0" err="1" smtClean="0"/>
              <a:t>MM_trans_gl</a:t>
            </a:r>
            <a:r>
              <a:rPr lang="en-US" dirty="0" smtClean="0"/>
              <a:t> table</a:t>
            </a:r>
          </a:p>
          <a:p>
            <a:pPr lvl="1"/>
            <a:r>
              <a:rPr lang="en-US" dirty="0" smtClean="0"/>
              <a:t>Table for storing general ledger details such as cost center, subaccount,  cost, and amount.</a:t>
            </a:r>
          </a:p>
          <a:p>
            <a:pPr lvl="1"/>
            <a:r>
              <a:rPr lang="en-US" dirty="0" smtClean="0"/>
              <a:t>Key Fields</a:t>
            </a:r>
          </a:p>
          <a:p>
            <a:pPr lvl="2"/>
            <a:r>
              <a:rPr lang="en-US" dirty="0" smtClean="0"/>
              <a:t>From/</a:t>
            </a:r>
            <a:r>
              <a:rPr lang="en-US" dirty="0" err="1" smtClean="0"/>
              <a:t>to_cost_center</a:t>
            </a:r>
            <a:r>
              <a:rPr lang="en-US" dirty="0" smtClean="0"/>
              <a:t>, from/</a:t>
            </a:r>
            <a:r>
              <a:rPr lang="en-US" dirty="0" err="1" smtClean="0"/>
              <a:t>to_sub_account</a:t>
            </a:r>
            <a:r>
              <a:rPr lang="en-US" dirty="0" smtClean="0"/>
              <a:t>, amount</a:t>
            </a:r>
          </a:p>
          <a:p>
            <a:pPr lvl="2"/>
            <a:endParaRPr lang="en-US" dirty="0" smtClean="0"/>
          </a:p>
          <a:p>
            <a:pPr lvl="1"/>
            <a:endParaRPr lang="en-US" dirty="0" smtClean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Power Orders – Patient selected</a:t>
            </a:r>
            <a:endParaRPr lang="en-US" dirty="0"/>
          </a:p>
        </p:txBody>
      </p:sp>
      <p:pic>
        <p:nvPicPr>
          <p:cNvPr id="48130" name="Picture 2"/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/>
          <a:srcRect t="2128" b="2128"/>
          <a:stretch>
            <a:fillRect/>
          </a:stretch>
        </p:blipFill>
        <p:spPr bwMode="auto">
          <a:xfrm>
            <a:off x="468313" y="871268"/>
            <a:ext cx="8058150" cy="57854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Power Orders – New order</a:t>
            </a:r>
            <a:endParaRPr lang="en-US" dirty="0"/>
          </a:p>
        </p:txBody>
      </p:sp>
      <p:pic>
        <p:nvPicPr>
          <p:cNvPr id="49154" name="Picture 2"/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/>
          <a:srcRect t="2049" b="2049"/>
          <a:stretch>
            <a:fillRect/>
          </a:stretch>
        </p:blipFill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Power Orders – Profile &amp; Additional Info</a:t>
            </a:r>
            <a:endParaRPr lang="en-US" dirty="0"/>
          </a:p>
        </p:txBody>
      </p:sp>
      <p:pic>
        <p:nvPicPr>
          <p:cNvPr id="50178" name="Picture 2"/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/>
          <a:srcRect t="2088" b="2088"/>
          <a:stretch>
            <a:fillRect/>
          </a:stretch>
        </p:blipFill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Power Orders – History</a:t>
            </a:r>
            <a:endParaRPr lang="en-US" dirty="0"/>
          </a:p>
        </p:txBody>
      </p:sp>
      <p:pic>
        <p:nvPicPr>
          <p:cNvPr id="51202" name="Picture 2"/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/>
          <a:srcRect t="2128" b="2128"/>
          <a:stretch>
            <a:fillRect/>
          </a:stretch>
        </p:blipFill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Orders Database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81000" y="990600"/>
            <a:ext cx="2018581" cy="52322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/>
              <a:t>Orders – Stores all orders </a:t>
            </a:r>
            <a:endParaRPr lang="en-US" sz="1400" dirty="0"/>
          </a:p>
        </p:txBody>
      </p:sp>
      <p:sp>
        <p:nvSpPr>
          <p:cNvPr id="8" name="TextBox 7"/>
          <p:cNvSpPr txBox="1"/>
          <p:nvPr/>
        </p:nvSpPr>
        <p:spPr>
          <a:xfrm>
            <a:off x="381000" y="1447800"/>
            <a:ext cx="2018581" cy="30777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/>
              <a:t>Order_id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3877" y="2133600"/>
            <a:ext cx="2018581" cy="95410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err="1" smtClean="0"/>
              <a:t>Order_action</a:t>
            </a:r>
            <a:r>
              <a:rPr lang="en-US" sz="1400" dirty="0" smtClean="0"/>
              <a:t> – Stores all actions for an order (Order, Modify, DC, Cancel, etc)</a:t>
            </a:r>
            <a:endParaRPr lang="en-US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381000" y="3048000"/>
            <a:ext cx="2018581" cy="52322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/>
              <a:t>Order_id</a:t>
            </a:r>
          </a:p>
          <a:p>
            <a:r>
              <a:rPr lang="en-US" sz="1400" dirty="0" err="1" smtClean="0"/>
              <a:t>Action_sequence</a:t>
            </a:r>
            <a:endParaRPr lang="en-US" sz="1400" dirty="0" smtClean="0"/>
          </a:p>
        </p:txBody>
      </p:sp>
      <p:sp>
        <p:nvSpPr>
          <p:cNvPr id="11" name="TextBox 10"/>
          <p:cNvSpPr txBox="1"/>
          <p:nvPr/>
        </p:nvSpPr>
        <p:spPr>
          <a:xfrm>
            <a:off x="3581400" y="3124200"/>
            <a:ext cx="2018581" cy="73866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err="1" smtClean="0"/>
              <a:t>Order_ingredient</a:t>
            </a:r>
            <a:r>
              <a:rPr lang="en-US" sz="1400" dirty="0" smtClean="0"/>
              <a:t>– Stores ingredients for an order</a:t>
            </a:r>
            <a:endParaRPr lang="en-US" sz="1400" dirty="0"/>
          </a:p>
        </p:txBody>
      </p:sp>
      <p:sp>
        <p:nvSpPr>
          <p:cNvPr id="12" name="TextBox 11"/>
          <p:cNvSpPr txBox="1"/>
          <p:nvPr/>
        </p:nvSpPr>
        <p:spPr>
          <a:xfrm>
            <a:off x="3581400" y="3810000"/>
            <a:ext cx="2018581" cy="73866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/>
              <a:t>Order_id</a:t>
            </a:r>
          </a:p>
          <a:p>
            <a:r>
              <a:rPr lang="en-US" sz="1400" dirty="0" err="1" smtClean="0"/>
              <a:t>Action_sequence</a:t>
            </a:r>
            <a:endParaRPr lang="en-US" sz="1400" dirty="0" smtClean="0"/>
          </a:p>
          <a:p>
            <a:r>
              <a:rPr lang="en-US" sz="1400" dirty="0" err="1" smtClean="0"/>
              <a:t>Comp_sequence</a:t>
            </a:r>
            <a:endParaRPr lang="en-US" sz="1400" dirty="0" smtClean="0"/>
          </a:p>
        </p:txBody>
      </p:sp>
      <p:sp>
        <p:nvSpPr>
          <p:cNvPr id="14" name="TextBox 13"/>
          <p:cNvSpPr txBox="1"/>
          <p:nvPr/>
        </p:nvSpPr>
        <p:spPr>
          <a:xfrm>
            <a:off x="381000" y="4038600"/>
            <a:ext cx="2018581" cy="52322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err="1" smtClean="0"/>
              <a:t>Order_detail</a:t>
            </a:r>
            <a:r>
              <a:rPr lang="en-US" sz="1400" dirty="0" smtClean="0"/>
              <a:t>– Stores all Order Entry fields</a:t>
            </a:r>
            <a:endParaRPr lang="en-US" sz="1400" dirty="0"/>
          </a:p>
        </p:txBody>
      </p:sp>
      <p:sp>
        <p:nvSpPr>
          <p:cNvPr id="15" name="TextBox 14"/>
          <p:cNvSpPr txBox="1"/>
          <p:nvPr/>
        </p:nvSpPr>
        <p:spPr>
          <a:xfrm>
            <a:off x="381000" y="4572000"/>
            <a:ext cx="2018581" cy="73866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/>
              <a:t>Order_id</a:t>
            </a:r>
          </a:p>
          <a:p>
            <a:r>
              <a:rPr lang="en-US" sz="1400" dirty="0" err="1" smtClean="0"/>
              <a:t>Action_sequence</a:t>
            </a:r>
            <a:endParaRPr lang="en-US" sz="1400" dirty="0" smtClean="0"/>
          </a:p>
          <a:p>
            <a:r>
              <a:rPr lang="en-US" sz="1400" dirty="0" err="1" smtClean="0"/>
              <a:t>Detail_sequence</a:t>
            </a:r>
            <a:endParaRPr lang="en-US" sz="1400" dirty="0" smtClean="0"/>
          </a:p>
        </p:txBody>
      </p:sp>
      <p:sp>
        <p:nvSpPr>
          <p:cNvPr id="16" name="TextBox 15"/>
          <p:cNvSpPr txBox="1"/>
          <p:nvPr/>
        </p:nvSpPr>
        <p:spPr>
          <a:xfrm>
            <a:off x="6248400" y="5029200"/>
            <a:ext cx="2018581" cy="73866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err="1" smtClean="0"/>
              <a:t>Order_product</a:t>
            </a:r>
            <a:r>
              <a:rPr lang="en-US" sz="1400" dirty="0" smtClean="0"/>
              <a:t>– Stores products per each ingredient</a:t>
            </a:r>
            <a:endParaRPr lang="en-US" sz="1400" dirty="0"/>
          </a:p>
        </p:txBody>
      </p:sp>
      <p:sp>
        <p:nvSpPr>
          <p:cNvPr id="17" name="TextBox 16"/>
          <p:cNvSpPr txBox="1"/>
          <p:nvPr/>
        </p:nvSpPr>
        <p:spPr>
          <a:xfrm>
            <a:off x="6248400" y="5715000"/>
            <a:ext cx="2018581" cy="73866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/>
              <a:t>Order_id</a:t>
            </a:r>
          </a:p>
          <a:p>
            <a:r>
              <a:rPr lang="en-US" sz="1400" dirty="0" err="1" smtClean="0"/>
              <a:t>Action_sequence</a:t>
            </a:r>
            <a:endParaRPr lang="en-US" sz="1400" dirty="0" smtClean="0"/>
          </a:p>
          <a:p>
            <a:r>
              <a:rPr lang="en-US" sz="1400" dirty="0" err="1" smtClean="0"/>
              <a:t>Ingred_sequence</a:t>
            </a:r>
            <a:endParaRPr lang="en-US" sz="1400" dirty="0" smtClean="0"/>
          </a:p>
        </p:txBody>
      </p:sp>
      <p:sp>
        <p:nvSpPr>
          <p:cNvPr id="18" name="TextBox 17"/>
          <p:cNvSpPr txBox="1"/>
          <p:nvPr/>
        </p:nvSpPr>
        <p:spPr>
          <a:xfrm>
            <a:off x="3581400" y="1524000"/>
            <a:ext cx="2018581" cy="73866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err="1" smtClean="0"/>
              <a:t>Order_dispense</a:t>
            </a:r>
            <a:r>
              <a:rPr lang="en-US" sz="1400" dirty="0" smtClean="0"/>
              <a:t> – Stores Pharmacy fields for each order </a:t>
            </a:r>
            <a:endParaRPr lang="en-US" sz="1400" dirty="0"/>
          </a:p>
        </p:txBody>
      </p:sp>
      <p:sp>
        <p:nvSpPr>
          <p:cNvPr id="19" name="TextBox 18"/>
          <p:cNvSpPr txBox="1"/>
          <p:nvPr/>
        </p:nvSpPr>
        <p:spPr>
          <a:xfrm>
            <a:off x="3581400" y="2209800"/>
            <a:ext cx="2018581" cy="30777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/>
              <a:t>Order_id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81400" y="4953000"/>
            <a:ext cx="2018581" cy="73866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err="1" smtClean="0"/>
              <a:t>Order_review</a:t>
            </a:r>
            <a:r>
              <a:rPr lang="en-US" sz="1400" dirty="0" smtClean="0"/>
              <a:t> – Stores review events (Doctor, Nurse and Pharmacy)</a:t>
            </a:r>
            <a:endParaRPr lang="en-US" sz="1400" dirty="0"/>
          </a:p>
        </p:txBody>
      </p:sp>
      <p:sp>
        <p:nvSpPr>
          <p:cNvPr id="21" name="TextBox 20"/>
          <p:cNvSpPr txBox="1"/>
          <p:nvPr/>
        </p:nvSpPr>
        <p:spPr>
          <a:xfrm>
            <a:off x="3581400" y="5638800"/>
            <a:ext cx="2018581" cy="73866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/>
              <a:t>Order_id</a:t>
            </a:r>
          </a:p>
          <a:p>
            <a:r>
              <a:rPr lang="en-US" sz="1400" dirty="0" err="1" smtClean="0"/>
              <a:t>Action_sequence</a:t>
            </a:r>
            <a:endParaRPr lang="en-US" sz="1400" dirty="0" smtClean="0"/>
          </a:p>
          <a:p>
            <a:r>
              <a:rPr lang="en-US" sz="1400" dirty="0" err="1" smtClean="0"/>
              <a:t>Review_sequence</a:t>
            </a:r>
            <a:endParaRPr lang="en-US" sz="1400" dirty="0" smtClean="0"/>
          </a:p>
        </p:txBody>
      </p:sp>
      <p:cxnSp>
        <p:nvCxnSpPr>
          <p:cNvPr id="23" name="Straight Arrow Connector 22"/>
          <p:cNvCxnSpPr>
            <a:stCxn id="8" idx="2"/>
            <a:endCxn id="9" idx="0"/>
          </p:cNvCxnSpPr>
          <p:nvPr/>
        </p:nvCxnSpPr>
        <p:spPr bwMode="auto">
          <a:xfrm rot="16200000" flipH="1">
            <a:off x="1202718" y="1943149"/>
            <a:ext cx="378023" cy="2877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4" name="Straight Arrow Connector 23"/>
          <p:cNvCxnSpPr>
            <a:stCxn id="10" idx="2"/>
            <a:endCxn id="14" idx="0"/>
          </p:cNvCxnSpPr>
          <p:nvPr/>
        </p:nvCxnSpPr>
        <p:spPr bwMode="auto">
          <a:xfrm rot="5400000">
            <a:off x="1156601" y="3804910"/>
            <a:ext cx="467380" cy="1588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8" name="Straight Arrow Connector 27"/>
          <p:cNvCxnSpPr>
            <a:stCxn id="7" idx="3"/>
            <a:endCxn id="18" idx="1"/>
          </p:cNvCxnSpPr>
          <p:nvPr/>
        </p:nvCxnSpPr>
        <p:spPr bwMode="auto">
          <a:xfrm>
            <a:off x="2399581" y="1252210"/>
            <a:ext cx="1181819" cy="641122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1" name="Straight Arrow Connector 30"/>
          <p:cNvCxnSpPr>
            <a:stCxn id="9" idx="3"/>
            <a:endCxn id="11" idx="1"/>
          </p:cNvCxnSpPr>
          <p:nvPr/>
        </p:nvCxnSpPr>
        <p:spPr bwMode="auto">
          <a:xfrm>
            <a:off x="2402458" y="2610654"/>
            <a:ext cx="1178942" cy="882878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4" name="Straight Arrow Connector 33"/>
          <p:cNvCxnSpPr>
            <a:stCxn id="9" idx="3"/>
            <a:endCxn id="20" idx="1"/>
          </p:cNvCxnSpPr>
          <p:nvPr/>
        </p:nvCxnSpPr>
        <p:spPr bwMode="auto">
          <a:xfrm>
            <a:off x="2402458" y="2610654"/>
            <a:ext cx="1178942" cy="2711678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7" name="Straight Arrow Connector 36"/>
          <p:cNvCxnSpPr>
            <a:stCxn id="11" idx="3"/>
            <a:endCxn id="16" idx="1"/>
          </p:cNvCxnSpPr>
          <p:nvPr/>
        </p:nvCxnSpPr>
        <p:spPr bwMode="auto">
          <a:xfrm>
            <a:off x="5599981" y="3493532"/>
            <a:ext cx="648419" cy="1905000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Power Orders – Orders Table</a:t>
            </a:r>
            <a:endParaRPr lang="en-US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4"/>
          </p:nvPr>
        </p:nvGraphicFramePr>
        <p:xfrm>
          <a:off x="235579" y="1078304"/>
          <a:ext cx="7959516" cy="54380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7021"/>
                <a:gridCol w="990600"/>
                <a:gridCol w="1676400"/>
                <a:gridCol w="3775495"/>
              </a:tblGrid>
              <a:tr h="360503">
                <a:tc>
                  <a:txBody>
                    <a:bodyPr/>
                    <a:lstStyle/>
                    <a:p>
                      <a:r>
                        <a:rPr lang="en-US" sz="1000" baseline="0" dirty="0" smtClean="0"/>
                        <a:t>Field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Value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aseline="0" dirty="0" smtClean="0"/>
                        <a:t>Field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Value</a:t>
                      </a:r>
                      <a:endParaRPr lang="en-US" sz="1000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Order_id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160189985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Activity_type_cd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3823 (Pharmacy)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OE_format_id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7706659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Order_detail_display_line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09/30/11</a:t>
                      </a:r>
                      <a:r>
                        <a:rPr lang="en-US" sz="1000" baseline="0" dirty="0" smtClean="0">
                          <a:solidFill>
                            <a:schemeClr val="bg2"/>
                          </a:solidFill>
                        </a:rPr>
                        <a:t> 20:00, 12.7, 0.59, 500 mg CAPSULE PO TID, Routine, -1, 1, 09/30/11 20:00, PP_STJU_PP3_FLOW, 294,893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Encntr_id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12614704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Template_order_id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Person_id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9640430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Temlate_order_flag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Catalog_cd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7599025 (Amoxicillin) 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Synonym_id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7599026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Suspend_ind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IV_ind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baseline="0" dirty="0" err="1" smtClean="0">
                          <a:solidFill>
                            <a:schemeClr val="bg2"/>
                          </a:solidFill>
                        </a:rPr>
                        <a:t>Contributor_system_cd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2476 (POWERCHART)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Constant_ind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Catalog_type_cd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2776 (Pharmacy)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PRN_ind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Orig_order_dt_tm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09/30/11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Order_comment_ind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Order_status_cd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1177 (Ordered)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Need_rx_verify_ind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Order_mnemonic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Amoxicillin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Need_nurse_review_ind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Last_action_sequence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Need_doctor_cosign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Last_update_provider_id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1030007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Current_start_dt_tm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09/30/11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Power Orders – Orders Table</a:t>
            </a:r>
            <a:endParaRPr lang="en-US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4"/>
          </p:nvPr>
        </p:nvGraphicFramePr>
        <p:xfrm>
          <a:off x="235579" y="1078304"/>
          <a:ext cx="7959516" cy="56253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7021"/>
                <a:gridCol w="1828800"/>
                <a:gridCol w="2133600"/>
                <a:gridCol w="2480095"/>
              </a:tblGrid>
              <a:tr h="360503">
                <a:tc>
                  <a:txBody>
                    <a:bodyPr/>
                    <a:lstStyle/>
                    <a:p>
                      <a:r>
                        <a:rPr lang="en-US" sz="1000" baseline="0" dirty="0" smtClean="0"/>
                        <a:t>Field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Value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aseline="0" dirty="0" smtClean="0"/>
                        <a:t>Field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Value</a:t>
                      </a:r>
                      <a:endParaRPr lang="en-US" sz="1000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Projected_stop_dt_tm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Discontinue_type_cd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Suspend_effective_dt_tm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Rx_mask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4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Resume_ind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Dept_misc_line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Amoxicillin 500 mg CAPSULE PO TID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Resume_effective_dt_tm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CKI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MUL.ORD!d00088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Discontinue_ind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Med_order_type_cd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262978 (MED)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Discontinue_effective_dt_tm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Ned_physician_validate_ind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Cs_order_id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Ordered_as_mnemonic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Amoxicillin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Cs_flag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Soft_stop_dt_tm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HNA_order_mnemonic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Amoxicillin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Eso_new_order_ind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Orig_ord_as_flag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Frequency_id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294893 (TID)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Ingredient_ind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Freq_type_flag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Dept_status_cd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2636 (Ordered)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Last_core_action_sequence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Ref_text_mask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64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Stop_type_cd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Clinical_display_line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09/30/11</a:t>
                      </a:r>
                      <a:r>
                        <a:rPr lang="en-US" sz="1000" baseline="0" dirty="0" smtClean="0">
                          <a:solidFill>
                            <a:schemeClr val="bg2"/>
                          </a:solidFill>
                        </a:rPr>
                        <a:t> 20:00, 500 mg = CAPSULE PO TID, Routine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Template_core_action_sequence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Power Orders – Orders Table</a:t>
            </a:r>
            <a:endParaRPr lang="en-US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4"/>
          </p:nvPr>
        </p:nvGraphicFramePr>
        <p:xfrm>
          <a:off x="235579" y="1078304"/>
          <a:ext cx="7959516" cy="5285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7021"/>
                <a:gridCol w="1828800"/>
                <a:gridCol w="2133600"/>
                <a:gridCol w="2480095"/>
              </a:tblGrid>
              <a:tr h="360503">
                <a:tc>
                  <a:txBody>
                    <a:bodyPr/>
                    <a:lstStyle/>
                    <a:p>
                      <a:r>
                        <a:rPr lang="en-US" sz="1000" baseline="0" dirty="0" smtClean="0"/>
                        <a:t>Field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Value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aseline="0" dirty="0" smtClean="0"/>
                        <a:t>Field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Value</a:t>
                      </a:r>
                      <a:endParaRPr lang="en-US" sz="1000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Incomplete_order_ind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Day_of_treatment_sequence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Last_ingred_action_sequence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Formulary_status_cd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Comment_type_mask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Dosing_method_flag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Override_flag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Warning_level_bit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Remaining_dose_cnt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Template_dose_sequence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Valid_dose_dt_tm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10/01/11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Last_communication_type_cd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7481283 (Scope of Care)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Ad_hoc_order_flag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Simplified_display_line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500 mg, PO, TID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Need_rx_clin_review_flag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IV_set_synonym_id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Clin_relavant_updt_dt_tm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09/30/11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Future_liocation_facility_cd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Future_location_nurse_cd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Power Orders – Order Action Table</a:t>
            </a:r>
            <a:endParaRPr lang="en-US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4"/>
          </p:nvPr>
        </p:nvGraphicFramePr>
        <p:xfrm>
          <a:off x="235579" y="1078304"/>
          <a:ext cx="7959516" cy="55057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7021"/>
                <a:gridCol w="1828800"/>
                <a:gridCol w="2133600"/>
                <a:gridCol w="2480095"/>
              </a:tblGrid>
              <a:tr h="360503">
                <a:tc>
                  <a:txBody>
                    <a:bodyPr/>
                    <a:lstStyle/>
                    <a:p>
                      <a:r>
                        <a:rPr lang="en-US" sz="1000" baseline="0" dirty="0" smtClean="0"/>
                        <a:t>Field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Value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aseline="0" dirty="0" smtClean="0"/>
                        <a:t>Field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Value</a:t>
                      </a:r>
                      <a:endParaRPr lang="en-US" sz="1000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Order_id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160189985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Order_provider_id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1030007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Action_sequence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Incomplete_order_ind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Communication_type_cd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7481283 (Scope</a:t>
                      </a:r>
                      <a:r>
                        <a:rPr lang="en-US" sz="1000" baseline="0" dirty="0" smtClean="0">
                          <a:solidFill>
                            <a:schemeClr val="bg2"/>
                          </a:solidFill>
                        </a:rPr>
                        <a:t> of Care)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Order_app_nbr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600005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Action_rejected_ind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Order_action_id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160189988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Order_conversation_id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160189986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Needs_verify_ind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Contributor_system_cd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2476 (POWERCHART)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Inactive_flag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Order_convs_seq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Order_status_cd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1177 (Ordered)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Order_locn_cd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10384 (2 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Dept_status_cd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2636 (Ordered)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Action_type_cd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1167 (Order)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Sch_state_cd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8915 (</a:t>
                      </a:r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Unscheduable</a:t>
                      </a: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)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Order_dt_tm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09/30/11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Eso_action_cd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3780294  (</a:t>
                      </a:r>
                      <a:r>
                        <a:rPr lang="en-US" sz="1000" kern="1200" baseline="0" dirty="0" smtClean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+mn-cs"/>
                        </a:rPr>
                        <a:t>ESO Script Skip Outbound Event </a:t>
                      </a: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)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Action_dt_tm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09/30/11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Medstudent_action_ind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Action_personnel_id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Order_detail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09/30/11 20:00, 09/30/11 20:00, 12.7</a:t>
                      </a:r>
                      <a:r>
                        <a:rPr lang="en-US" sz="1000" baseline="0" dirty="0" smtClean="0">
                          <a:solidFill>
                            <a:schemeClr val="bg2"/>
                          </a:solidFill>
                        </a:rPr>
                        <a:t> 0.59, 500 mg CAPSULE PO TID, Routine, 01, 1, 09/30/11 20:00, PP_STJU_PP3_FLOW, 294, 8</a:t>
                      </a: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Effetive_dt_tm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09/30/11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Undo_action_type_cd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Power Orders – Order Action Table</a:t>
            </a:r>
            <a:endParaRPr lang="en-US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4"/>
          </p:nvPr>
        </p:nvGraphicFramePr>
        <p:xfrm>
          <a:off x="235579" y="1078304"/>
          <a:ext cx="7959516" cy="51726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7021"/>
                <a:gridCol w="1828800"/>
                <a:gridCol w="2133600"/>
                <a:gridCol w="2480095"/>
              </a:tblGrid>
              <a:tr h="360503">
                <a:tc>
                  <a:txBody>
                    <a:bodyPr/>
                    <a:lstStyle/>
                    <a:p>
                      <a:r>
                        <a:rPr lang="en-US" sz="1000" baseline="0" dirty="0" smtClean="0"/>
                        <a:t>Field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Value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aseline="0" dirty="0" smtClean="0"/>
                        <a:t>Field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Value</a:t>
                      </a:r>
                      <a:endParaRPr lang="en-US" sz="1000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Clinical_display_line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09/30/11</a:t>
                      </a:r>
                      <a:r>
                        <a:rPr lang="en-US" sz="1000" baseline="0" dirty="0" smtClean="0">
                          <a:solidFill>
                            <a:schemeClr val="bg2"/>
                          </a:solidFill>
                        </a:rPr>
                        <a:t> 20:00, 500 mg = CAPSULE PO TID, Routine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Action_qualifier_cd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Core_ind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Current_start_dt_tm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09/30/11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Constant_ind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Valid_dose_dt_tm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10/01/11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Frequency_id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294893 (TID)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Next_dose_dt_tm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09/30/11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PRN_ind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Source_dot_order_id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Stop_type_cd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Source_dot_action_seq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Template_order_flag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Source_protocol_action_seq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Supervising_provider_id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Formulary_status_cd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Digital_signature_ident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Billing_provider_flag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Projected_stop_dt_tm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Simplified_display_line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500 mg, PO, TID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Need_clin_review_flag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Action_initiated_dt_tm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Power Orders – Order Ingredient Table</a:t>
            </a:r>
            <a:endParaRPr lang="en-US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4"/>
          </p:nvPr>
        </p:nvGraphicFramePr>
        <p:xfrm>
          <a:off x="235579" y="1078304"/>
          <a:ext cx="7959516" cy="51726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7021"/>
                <a:gridCol w="1828800"/>
                <a:gridCol w="2133600"/>
                <a:gridCol w="2480095"/>
              </a:tblGrid>
              <a:tr h="360503">
                <a:tc>
                  <a:txBody>
                    <a:bodyPr/>
                    <a:lstStyle/>
                    <a:p>
                      <a:r>
                        <a:rPr lang="en-US" sz="1000" baseline="0" dirty="0" smtClean="0"/>
                        <a:t>Field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Value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aseline="0" dirty="0" smtClean="0"/>
                        <a:t>Field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Value</a:t>
                      </a:r>
                      <a:endParaRPr lang="en-US" sz="1000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Order_id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160189985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Freq_cd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Action_sequence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IV_seq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Comp_sequence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Dose_quantity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Catalog_type_cd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2776 (Pharmacy)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Dose_quantity_unit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Catalog_cd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7599025 (Amoxicillin)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Ordered_as_mnemonic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Amoxicillin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Synonym_id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7599026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Supplied_as_mnemionic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Order_mnemonic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Amoxicillin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HNA_Order_mnemonic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Amoxicillin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Order_detail_display_line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500 mg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Ingredient_type_flag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Strength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Clinically_significant_flag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Strength_unit_cd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504 (mg)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Include_in_total_volume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Volume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Ordered_dose_unit_cd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Volume_unit_cd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Ordered_dose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Freetext_dose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Dose_calculator_long_text_id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Power Orders – Order Ingredient Table</a:t>
            </a:r>
            <a:endParaRPr lang="en-US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4"/>
          </p:nvPr>
        </p:nvGraphicFramePr>
        <p:xfrm>
          <a:off x="235579" y="1078304"/>
          <a:ext cx="7959516" cy="52291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7021"/>
                <a:gridCol w="1828800"/>
                <a:gridCol w="2133600"/>
                <a:gridCol w="2480095"/>
              </a:tblGrid>
              <a:tr h="360503">
                <a:tc>
                  <a:txBody>
                    <a:bodyPr/>
                    <a:lstStyle/>
                    <a:p>
                      <a:r>
                        <a:rPr lang="en-US" sz="1000" baseline="0" dirty="0" smtClean="0"/>
                        <a:t>Field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Value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aseline="0" dirty="0" smtClean="0"/>
                        <a:t>Field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Value</a:t>
                      </a:r>
                      <a:endParaRPr lang="en-US" sz="1000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Ingredient_source_flag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Normalized_rate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Normalized_rate_unit_cd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Concentration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Concentration_unit_cd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Dosing_capacity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Dose_adjustment_display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Days_of_administration_display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Power Orders – Order Detail Table</a:t>
            </a:r>
            <a:endParaRPr lang="en-US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4"/>
          </p:nvPr>
        </p:nvGraphicFramePr>
        <p:xfrm>
          <a:off x="76198" y="1040704"/>
          <a:ext cx="8458201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900"/>
                <a:gridCol w="649032"/>
                <a:gridCol w="994646"/>
                <a:gridCol w="800661"/>
                <a:gridCol w="940192"/>
                <a:gridCol w="1422875"/>
                <a:gridCol w="553340"/>
                <a:gridCol w="948583"/>
                <a:gridCol w="790486"/>
                <a:gridCol w="790486"/>
              </a:tblGrid>
              <a:tr h="532511">
                <a:tc>
                  <a:txBody>
                    <a:bodyPr/>
                    <a:lstStyle/>
                    <a:p>
                      <a:r>
                        <a:rPr lang="en-US" sz="1000" dirty="0" err="1" smtClean="0"/>
                        <a:t>Action_seq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/>
                        <a:t>Detail_seq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/>
                        <a:t>OE_Field_display_value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/>
                        <a:t>OE_field_dt_tm_value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/>
                        <a:t>OE_field_id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/>
                        <a:t>OE_field_meaning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/>
                        <a:t>OE_field_value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Order_id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/>
                        <a:t>OE_field_meaning_id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/>
                        <a:t>Parent_action_seqiuence</a:t>
                      </a:r>
                      <a:endParaRPr lang="en-US" sz="1000" dirty="0"/>
                    </a:p>
                  </a:txBody>
                  <a:tcPr/>
                </a:tc>
              </a:tr>
              <a:tr h="236672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09/30/11</a:t>
                      </a:r>
                      <a:r>
                        <a:rPr lang="en-US" sz="1000" baseline="0" dirty="0" smtClean="0">
                          <a:solidFill>
                            <a:schemeClr val="bg2"/>
                          </a:solidFill>
                        </a:rPr>
                        <a:t> 20:00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09/30/11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13522014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REFERRENCESTARTDTTM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160189985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146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236672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09/30/11 20:00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09/30/11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4507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REQSTRATDTTM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160189985</a:t>
                      </a:r>
                    </a:p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51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236672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12.7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4606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WEIGHT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12.70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160189985</a:t>
                      </a:r>
                    </a:p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99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236672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0.59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7419738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OTHER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0.59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160189985</a:t>
                      </a:r>
                    </a:p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9000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245400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500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4662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STRENGTHDOSE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500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160189985</a:t>
                      </a:r>
                    </a:p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2056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236672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6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mg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4663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STRENGTHDOSEUNIT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504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160189985</a:t>
                      </a:r>
                    </a:p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2057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236672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CAPSULE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4646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DRUGFORM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64592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160189985</a:t>
                      </a:r>
                    </a:p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2014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236672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PO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4659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RXROUTE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84987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160189985</a:t>
                      </a:r>
                    </a:p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2050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251464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TID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4644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FREQ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252498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160189985</a:t>
                      </a:r>
                    </a:p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2011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236672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No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4654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SCH/PRN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160189985</a:t>
                      </a:r>
                    </a:p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2037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281048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Routine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6624712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RXPRIORITY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7532947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160189985</a:t>
                      </a:r>
                    </a:p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141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266256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-1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9474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ADHOCFREQINSTANCE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-1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160189985</a:t>
                      </a:r>
                    </a:p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2071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Power Orders – Order Detail Table</a:t>
            </a:r>
            <a:endParaRPr lang="en-US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4"/>
          </p:nvPr>
        </p:nvGraphicFramePr>
        <p:xfrm>
          <a:off x="76199" y="1040704"/>
          <a:ext cx="8382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784"/>
                <a:gridCol w="643185"/>
                <a:gridCol w="985685"/>
                <a:gridCol w="793448"/>
                <a:gridCol w="931722"/>
                <a:gridCol w="1410056"/>
                <a:gridCol w="548355"/>
                <a:gridCol w="940037"/>
                <a:gridCol w="783364"/>
                <a:gridCol w="783364"/>
              </a:tblGrid>
              <a:tr h="532511">
                <a:tc>
                  <a:txBody>
                    <a:bodyPr/>
                    <a:lstStyle/>
                    <a:p>
                      <a:r>
                        <a:rPr lang="en-US" sz="1000" dirty="0" err="1" smtClean="0"/>
                        <a:t>Action_seq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/>
                        <a:t>Detail_seq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/>
                        <a:t>OE_Field_display_value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/>
                        <a:t>OE_field_dt_tm_value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/>
                        <a:t>OE_field_id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/>
                        <a:t>OE_field_meaning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/>
                        <a:t>OE_field_value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Order_id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/>
                        <a:t>OE_field_meaning_id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/>
                        <a:t>Parent_action_seqiuence</a:t>
                      </a:r>
                      <a:endParaRPr lang="en-US" sz="1000" dirty="0"/>
                    </a:p>
                  </a:txBody>
                  <a:tcPr/>
                </a:tc>
              </a:tr>
              <a:tr h="251464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No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9469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FUTUREORDER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160189985</a:t>
                      </a:r>
                    </a:p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120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236672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No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4613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CONSTANTIND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160189985</a:t>
                      </a:r>
                    </a:p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114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284944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9470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PHARMORDERTYPE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160189985</a:t>
                      </a:r>
                    </a:p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2070</a:t>
                      </a:r>
                    </a:p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268423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09/30/11 20:00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09/30/11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4586010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NEXTDOSEDTTM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160189985</a:t>
                      </a:r>
                    </a:p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2096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236672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PP_STJU_PP3_FLOW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6624710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PREPROCESSSCRIPT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160189985</a:t>
                      </a:r>
                    </a:p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217744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294,893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4586008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FREQSCHEDID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294893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160189985</a:t>
                      </a:r>
                    </a:p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2094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Power Orders – Order Review Table</a:t>
            </a:r>
            <a:endParaRPr lang="en-US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4"/>
          </p:nvPr>
        </p:nvGraphicFramePr>
        <p:xfrm>
          <a:off x="235579" y="1078304"/>
          <a:ext cx="7959516" cy="55406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7021"/>
                <a:gridCol w="1828800"/>
                <a:gridCol w="2133600"/>
                <a:gridCol w="2480095"/>
              </a:tblGrid>
              <a:tr h="360503"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Orders</a:t>
                      </a:r>
                      <a:r>
                        <a:rPr lang="en-US" sz="1000" baseline="0" dirty="0" smtClean="0"/>
                        <a:t> Field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Value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Value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Order_id</a:t>
                      </a:r>
                      <a:r>
                        <a:rPr lang="en-US" sz="1000" baseline="0" dirty="0" smtClean="0">
                          <a:solidFill>
                            <a:schemeClr val="bg2"/>
                          </a:solidFill>
                        </a:rPr>
                        <a:t> = 160189985, </a:t>
                      </a:r>
                      <a:r>
                        <a:rPr lang="en-US" sz="1000" baseline="0" dirty="0" err="1" smtClean="0">
                          <a:solidFill>
                            <a:schemeClr val="bg2"/>
                          </a:solidFill>
                        </a:rPr>
                        <a:t>Action_sequence</a:t>
                      </a:r>
                      <a:r>
                        <a:rPr lang="en-US" sz="1000" baseline="0" dirty="0" smtClean="0">
                          <a:solidFill>
                            <a:schemeClr val="bg2"/>
                          </a:solidFill>
                        </a:rPr>
                        <a:t> = 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Review_sequence</a:t>
                      </a:r>
                      <a:r>
                        <a:rPr lang="en-US" sz="1000" baseline="0" dirty="0" smtClean="0">
                          <a:solidFill>
                            <a:schemeClr val="bg2"/>
                          </a:solidFill>
                        </a:rPr>
                        <a:t> = 1</a:t>
                      </a: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Review_sequence</a:t>
                      </a: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 = 2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 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Review_type_flag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3 (</a:t>
                      </a:r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Phamacy</a:t>
                      </a: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)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 (Physician)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Review_reqd_ind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Provider_id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1030007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Location_cd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Dept_cd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Reviewed_status_flag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Review_personnel_id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Review_dt_tm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Proxy_personnel_id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Proxy_reason_cd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Reject_reason_cd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Digital_signature_ident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Review_grp_value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Power Orders – Order Dispense Table</a:t>
            </a:r>
            <a:endParaRPr lang="en-US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4"/>
          </p:nvPr>
        </p:nvGraphicFramePr>
        <p:xfrm>
          <a:off x="235579" y="1078304"/>
          <a:ext cx="7959516" cy="55124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7021"/>
                <a:gridCol w="1828800"/>
                <a:gridCol w="2133600"/>
                <a:gridCol w="2480095"/>
              </a:tblGrid>
              <a:tr h="360503">
                <a:tc>
                  <a:txBody>
                    <a:bodyPr/>
                    <a:lstStyle/>
                    <a:p>
                      <a:r>
                        <a:rPr lang="en-US" sz="1000" baseline="0" dirty="0" smtClean="0"/>
                        <a:t>Field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Value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aseline="0" dirty="0" smtClean="0"/>
                        <a:t>Field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Value</a:t>
                      </a:r>
                      <a:endParaRPr lang="en-US" sz="1000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Order_id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160189985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Price_schedule_id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Next_dispense_dt_tm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09/30/11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Order_cost_value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Dispense_category_cd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Order_price_value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Encntr_id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12614704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Order_dispense_ind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Prn_ind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Cart_fill_doses1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Print_ind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Cart_fill_dt_tm1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Total_dispense_doses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Cart_fill_run_id1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Next_iv_sep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Cart_fill_doses2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Floorstock_ind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Cart_fill_dt_tm2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Frequency_id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Cart_fill_run_id2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Par_doses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Cart_fill_dt_doses3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IV_set_size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Cart_fill_dt_tm3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Replace_every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Cart_fill_run_id3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Replace_every_cd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Floorstock_override_ind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Power Orders – Order Dispense Table</a:t>
            </a:r>
            <a:endParaRPr lang="en-US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4"/>
          </p:nvPr>
        </p:nvGraphicFramePr>
        <p:xfrm>
          <a:off x="235579" y="1078304"/>
          <a:ext cx="7959516" cy="55406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7021"/>
                <a:gridCol w="1828800"/>
                <a:gridCol w="2133600"/>
                <a:gridCol w="2480095"/>
              </a:tblGrid>
              <a:tr h="360503">
                <a:tc>
                  <a:txBody>
                    <a:bodyPr/>
                    <a:lstStyle/>
                    <a:p>
                      <a:r>
                        <a:rPr lang="en-US" sz="1000" baseline="0" dirty="0" smtClean="0"/>
                        <a:t>Field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Value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aseline="0" dirty="0" smtClean="0"/>
                        <a:t>Field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Value</a:t>
                      </a:r>
                      <a:endParaRPr lang="en-US" sz="1000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Dept_status_cd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Unverified_comm_type_cd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7481283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Display_line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Amoxicillin 500</a:t>
                      </a:r>
                      <a:r>
                        <a:rPr lang="en-US" sz="1000" baseline="0" dirty="0" smtClean="0">
                          <a:solidFill>
                            <a:schemeClr val="bg2"/>
                          </a:solidFill>
                        </a:rPr>
                        <a:t> mg CAPSULE PO TID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Unverified_action_type_cd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1167 (Ordered)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Ignore_ind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Unverified_route_cd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84987 (PO)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Last_ver_act_seq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Unverified_rx_ord_priority_cd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7532947 (Routine)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Last_ver_ingr_seq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Profile_display_dt_tm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12/31/00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Order_type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Future_loc_facility_cd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Resume_dt_tm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Future_loc_nurse_unit_cd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Stop_dt_tm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Need_rx_prod_assign_flag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Stop_type_cd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Last_clin_review_act_seq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Suspend_dt_tm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Last_clin_review_ingr_seq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Pharm_type_cd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6600991 (Inpatient)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Workflow_cd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Person_id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9640430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Patient_med_ind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Research_account_id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Start_dispense_dt_tm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Need_rx_verify_ind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Auto_credit_ind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Power Orders – Full Query</a:t>
            </a:r>
            <a:endParaRPr lang="en-US" dirty="0"/>
          </a:p>
        </p:txBody>
      </p:sp>
      <p:pic>
        <p:nvPicPr>
          <p:cNvPr id="38915" name="Picture 3"/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/>
          <a:srcRect l="3655" r="3655"/>
          <a:stretch>
            <a:fillRect/>
          </a:stretch>
        </p:blipFill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Power Orders – Full Query (continued)</a:t>
            </a:r>
            <a:endParaRPr lang="en-US" dirty="0"/>
          </a:p>
        </p:txBody>
      </p:sp>
      <p:pic>
        <p:nvPicPr>
          <p:cNvPr id="39938" name="Picture 2"/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/>
          <a:srcRect l="3851" r="3851"/>
          <a:stretch>
            <a:fillRect/>
          </a:stretch>
        </p:blipFill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Power Orders – Full query example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98407" y="863964"/>
            <a:ext cx="883344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800" dirty="0" smtClean="0"/>
          </a:p>
          <a:p>
            <a:endParaRPr lang="en-US" sz="800" dirty="0"/>
          </a:p>
        </p:txBody>
      </p:sp>
      <p:graphicFrame>
        <p:nvGraphicFramePr>
          <p:cNvPr id="52227" name="Object 3"/>
          <p:cNvGraphicFramePr>
            <a:graphicFrameLocks noChangeAspect="1"/>
          </p:cNvGraphicFramePr>
          <p:nvPr/>
        </p:nvGraphicFramePr>
        <p:xfrm>
          <a:off x="3810000" y="3086100"/>
          <a:ext cx="1522413" cy="685800"/>
        </p:xfrm>
        <a:graphic>
          <a:graphicData uri="http://schemas.openxmlformats.org/presentationml/2006/ole">
            <p:oleObj spid="_x0000_s52227" name="Package" showAsIcon="1" r:id="rId3" imgW="1522800" imgH="685440" progId="Package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Power Orders – EMAR</a:t>
            </a:r>
            <a:endParaRPr lang="en-US" dirty="0"/>
          </a:p>
        </p:txBody>
      </p:sp>
      <p:pic>
        <p:nvPicPr>
          <p:cNvPr id="80898" name="Picture 2"/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/>
          <a:srcRect t="3097" b="3097"/>
          <a:stretch>
            <a:fillRect/>
          </a:stretch>
        </p:blipFill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Power Orders – EMAR</a:t>
            </a:r>
            <a:endParaRPr lang="en-US" dirty="0"/>
          </a:p>
        </p:txBody>
      </p:sp>
      <p:pic>
        <p:nvPicPr>
          <p:cNvPr id="81922" name="Picture 2"/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/>
          <a:srcRect t="3337" b="3337"/>
          <a:stretch>
            <a:fillRect/>
          </a:stretch>
        </p:blipFill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Power Orders – EMAR</a:t>
            </a:r>
            <a:endParaRPr lang="en-US" dirty="0"/>
          </a:p>
        </p:txBody>
      </p:sp>
      <p:pic>
        <p:nvPicPr>
          <p:cNvPr id="82946" name="Picture 2"/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/>
          <a:srcRect t="2908" b="2908"/>
          <a:stretch>
            <a:fillRect/>
          </a:stretch>
        </p:blipFill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EMAR – </a:t>
            </a:r>
            <a:r>
              <a:rPr lang="en-US" dirty="0" err="1" smtClean="0"/>
              <a:t>Ce_event_order_link</a:t>
            </a:r>
            <a:r>
              <a:rPr lang="en-US" dirty="0" smtClean="0"/>
              <a:t> table</a:t>
            </a:r>
            <a:endParaRPr lang="en-US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4"/>
          </p:nvPr>
        </p:nvGraphicFramePr>
        <p:xfrm>
          <a:off x="235579" y="1078304"/>
          <a:ext cx="7959516" cy="55124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7021"/>
                <a:gridCol w="1828800"/>
                <a:gridCol w="2133600"/>
                <a:gridCol w="2480095"/>
              </a:tblGrid>
              <a:tr h="360503">
                <a:tc>
                  <a:txBody>
                    <a:bodyPr/>
                    <a:lstStyle/>
                    <a:p>
                      <a:r>
                        <a:rPr lang="en-US" sz="1000" baseline="0" dirty="0" smtClean="0"/>
                        <a:t>Field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Value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aseline="0" dirty="0" smtClean="0"/>
                        <a:t>Field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Value</a:t>
                      </a:r>
                      <a:endParaRPr lang="en-US" sz="1000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Event_id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219162267 &amp; 219162269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Order_id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160190769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Order_action_sequence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Valid_unitil_dt_tm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12/31/00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Valid_from_dt_tm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10/06/11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Parent_order_ident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160189985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Event_end_dt_tm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10/02/11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Person_id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9640430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Catalog_type_cd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2776 (Pharmacy)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Encntr_id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12614704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EMAR – </a:t>
            </a:r>
            <a:r>
              <a:rPr lang="en-US" dirty="0" err="1" smtClean="0"/>
              <a:t>Clinical_event</a:t>
            </a:r>
            <a:r>
              <a:rPr lang="en-US" dirty="0" smtClean="0"/>
              <a:t> table</a:t>
            </a:r>
            <a:endParaRPr lang="en-US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4"/>
          </p:nvPr>
        </p:nvGraphicFramePr>
        <p:xfrm>
          <a:off x="235579" y="1078304"/>
          <a:ext cx="7959516" cy="55124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7021"/>
                <a:gridCol w="1828800"/>
                <a:gridCol w="2133600"/>
                <a:gridCol w="2480095"/>
              </a:tblGrid>
              <a:tr h="360503">
                <a:tc>
                  <a:txBody>
                    <a:bodyPr/>
                    <a:lstStyle/>
                    <a:p>
                      <a:r>
                        <a:rPr lang="en-US" sz="1000" baseline="0" dirty="0" smtClean="0"/>
                        <a:t>Field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Value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aseline="0" dirty="0" smtClean="0"/>
                        <a:t>Field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Value</a:t>
                      </a:r>
                      <a:endParaRPr lang="en-US" sz="1000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Clinical_event_id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219162290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Valid_from_dt_tm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11/06/01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Encntr_id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12614704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Event_class_cd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580 (MED)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Person_id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9640430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Event_cd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8026333 (Amoxicillin)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Event_start_dt_tm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Event_tag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250 mg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Event_id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219162269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Event_end_dt_tm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10/02/11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Valid_until_dt_tm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12/31/00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Result_val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250.0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Event_title_text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Amoxicillin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Result_units_cd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504 (mg)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View_level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Record_status_cd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4216 (Active)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Order_id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160190769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Result_status_cd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660 (Modified)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Catalog_cd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7599025 (Amoxicillin)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Authentic_flag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Series_ref_nbr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Publish_flag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Contributor_system_cd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2476 (POWERCHART)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Qc_review_cd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Parent_event_id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219162267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Verified_dt_tm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10/06/11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Event_reltn_cd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631 (CHILD)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Verified_prsnl_id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10319921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EMAR – </a:t>
            </a:r>
            <a:r>
              <a:rPr lang="en-US" dirty="0" err="1" smtClean="0"/>
              <a:t>Clinical_event</a:t>
            </a:r>
            <a:r>
              <a:rPr lang="en-US" dirty="0" smtClean="0"/>
              <a:t> table</a:t>
            </a:r>
            <a:endParaRPr lang="en-US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4"/>
          </p:nvPr>
        </p:nvGraphicFramePr>
        <p:xfrm>
          <a:off x="235579" y="1078304"/>
          <a:ext cx="7959516" cy="51444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7021"/>
                <a:gridCol w="1828800"/>
                <a:gridCol w="2133600"/>
                <a:gridCol w="2480095"/>
              </a:tblGrid>
              <a:tr h="360503">
                <a:tc>
                  <a:txBody>
                    <a:bodyPr/>
                    <a:lstStyle/>
                    <a:p>
                      <a:r>
                        <a:rPr lang="en-US" sz="1000" baseline="0" dirty="0" smtClean="0"/>
                        <a:t>Field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Value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aseline="0" dirty="0" smtClean="0"/>
                        <a:t>Field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Value</a:t>
                      </a:r>
                      <a:endParaRPr lang="en-US" sz="1000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Performed_dt_tm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10/06/11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Performed_prsnl_id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10319921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Clinsig_updt_dt_tm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10/06/11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Order_action_sequence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Entry_mode_cd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22993752 (</a:t>
                      </a:r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MedAdmin</a:t>
                      </a: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Subtable_bit_map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1074266117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Collating_seq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EMAR – </a:t>
            </a:r>
            <a:r>
              <a:rPr lang="en-US" dirty="0" err="1" smtClean="0"/>
              <a:t>Ce_med_result</a:t>
            </a:r>
            <a:r>
              <a:rPr lang="en-US" dirty="0" smtClean="0"/>
              <a:t> table</a:t>
            </a:r>
            <a:endParaRPr lang="en-US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4"/>
          </p:nvPr>
        </p:nvGraphicFramePr>
        <p:xfrm>
          <a:off x="235579" y="1078304"/>
          <a:ext cx="7959516" cy="55124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7021"/>
                <a:gridCol w="1828800"/>
                <a:gridCol w="2133600"/>
                <a:gridCol w="2480095"/>
              </a:tblGrid>
              <a:tr h="360503">
                <a:tc>
                  <a:txBody>
                    <a:bodyPr/>
                    <a:lstStyle/>
                    <a:p>
                      <a:r>
                        <a:rPr lang="en-US" sz="1000" baseline="0" dirty="0" smtClean="0"/>
                        <a:t>Field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Value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aseline="0" dirty="0" smtClean="0"/>
                        <a:t>Field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Value</a:t>
                      </a:r>
                      <a:endParaRPr lang="en-US" sz="1000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Event_id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219162269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Initial_volume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Valid_until_dt_tm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12/31/00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Total_intake_volume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Admin_start_dt_tm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10/02/11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Diluent_type_cd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Valid_from_dt_tm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10/06/11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Ph_dispense_id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Admin_note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Infusion_rat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Admin_prov_id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Infusion_unit_cd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Admin_end_dt_tm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10/02/11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Infusion_time_cd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Admin_route_cd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84987 (PO)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Medication_form_cd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Admin_site_cd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Reason_required_flag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Admin_method_cd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Response_required_flag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Admin_pt_loc_cd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Admin_strength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Initial_dosage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Admin_strength_unit_cd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Admin_dosage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Substance_lot_number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Dosage_unit_cd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504 (mg)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Substance_exp_dt_tm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EMAR – </a:t>
            </a:r>
            <a:r>
              <a:rPr lang="en-US" dirty="0" err="1" smtClean="0"/>
              <a:t>Ce_med_result</a:t>
            </a:r>
            <a:r>
              <a:rPr lang="en-US" dirty="0" smtClean="0"/>
              <a:t> table</a:t>
            </a:r>
            <a:endParaRPr lang="en-US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4"/>
          </p:nvPr>
        </p:nvGraphicFramePr>
        <p:xfrm>
          <a:off x="235579" y="1078304"/>
          <a:ext cx="7959516" cy="55688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7021"/>
                <a:gridCol w="1828800"/>
                <a:gridCol w="2133600"/>
                <a:gridCol w="2480095"/>
              </a:tblGrid>
              <a:tr h="360503">
                <a:tc>
                  <a:txBody>
                    <a:bodyPr/>
                    <a:lstStyle/>
                    <a:p>
                      <a:r>
                        <a:rPr lang="en-US" sz="1000" baseline="0" dirty="0" smtClean="0"/>
                        <a:t>Field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Value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aseline="0" dirty="0" smtClean="0"/>
                        <a:t>Field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Value</a:t>
                      </a:r>
                      <a:endParaRPr lang="en-US" sz="1000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Substance_manufacturer_cd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Refusal_cd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System_entry_dt_tm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10/06/11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Iv_event_cd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Infused_volume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Infused_volume_unit_cd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Remaining_volume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Remaining_volume_unit_cd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Synonym_id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7599026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Immunization_type_cd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Weight_value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Weight_unit_cd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Power Orders – EMAR Full Query</a:t>
            </a:r>
            <a:endParaRPr lang="en-US" dirty="0"/>
          </a:p>
        </p:txBody>
      </p:sp>
      <p:pic>
        <p:nvPicPr>
          <p:cNvPr id="83970" name="Picture 2"/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/>
          <a:srcRect l="2455" r="2455"/>
          <a:stretch>
            <a:fillRect/>
          </a:stretch>
        </p:blipFill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Power Orders – EMAR – Full Query example</a:t>
            </a:r>
            <a:endParaRPr lang="en-US" dirty="0"/>
          </a:p>
        </p:txBody>
      </p:sp>
      <p:graphicFrame>
        <p:nvGraphicFramePr>
          <p:cNvPr id="84994" name="Object 2"/>
          <p:cNvGraphicFramePr>
            <a:graphicFrameLocks noChangeAspect="1"/>
          </p:cNvGraphicFramePr>
          <p:nvPr/>
        </p:nvGraphicFramePr>
        <p:xfrm>
          <a:off x="3708400" y="3086100"/>
          <a:ext cx="1725613" cy="685800"/>
        </p:xfrm>
        <a:graphic>
          <a:graphicData uri="http://schemas.openxmlformats.org/presentationml/2006/ole">
            <p:oleObj spid="_x0000_s108546" name="Package" showAsIcon="1" r:id="rId3" imgW="1725840" imgH="685440" progId="Package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PhaMedMgr – Verification</a:t>
            </a:r>
            <a:endParaRPr lang="en-US" dirty="0"/>
          </a:p>
        </p:txBody>
      </p:sp>
      <p:pic>
        <p:nvPicPr>
          <p:cNvPr id="90114" name="Picture 2"/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/>
          <a:srcRect t="1361" b="1361"/>
          <a:stretch>
            <a:fillRect/>
          </a:stretch>
        </p:blipFill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PhaMedMgr – Verification</a:t>
            </a:r>
            <a:endParaRPr lang="en-US" dirty="0"/>
          </a:p>
        </p:txBody>
      </p:sp>
      <p:pic>
        <p:nvPicPr>
          <p:cNvPr id="91138" name="Picture 2"/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/>
          <a:srcRect t="9292" b="9292"/>
          <a:stretch>
            <a:fillRect/>
          </a:stretch>
        </p:blipFill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PhaMedMgr – Verification	</a:t>
            </a:r>
            <a:endParaRPr lang="en-US" dirty="0"/>
          </a:p>
        </p:txBody>
      </p:sp>
      <p:pic>
        <p:nvPicPr>
          <p:cNvPr id="92162" name="Picture 2"/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/>
          <a:srcRect t="1460" b="1460"/>
          <a:stretch>
            <a:fillRect/>
          </a:stretch>
        </p:blipFill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PhaMedMgr – Verify - Orders (only changed fields)</a:t>
            </a:r>
            <a:endParaRPr lang="en-US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4"/>
          </p:nvPr>
        </p:nvGraphicFramePr>
        <p:xfrm>
          <a:off x="235579" y="1078304"/>
          <a:ext cx="7959516" cy="57710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7021"/>
                <a:gridCol w="1828800"/>
                <a:gridCol w="2133600"/>
                <a:gridCol w="2480095"/>
              </a:tblGrid>
              <a:tr h="360503">
                <a:tc>
                  <a:txBody>
                    <a:bodyPr/>
                    <a:lstStyle/>
                    <a:p>
                      <a:r>
                        <a:rPr lang="en-US" sz="1000" baseline="0" dirty="0" smtClean="0"/>
                        <a:t>Field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Value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aseline="0" dirty="0" smtClean="0"/>
                        <a:t>Field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Value</a:t>
                      </a:r>
                      <a:endParaRPr lang="en-US" sz="1000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Last_action_sequence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Order_detail_display_line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09/30/2011 20:00, 09/30/2011 20:00, 12.7 0.59, 500 mg 1 cap CASULE PO TID, Routine,</a:t>
                      </a:r>
                      <a:r>
                        <a:rPr lang="en-US" sz="1000" baseline="0" dirty="0" smtClean="0">
                          <a:solidFill>
                            <a:schemeClr val="bg2"/>
                          </a:solidFill>
                        </a:rPr>
                        <a:t> 01, UD, 0, 1, 10/06/2011 14:00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Order_comment_ind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Need_rx_verify_ind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Dept_misc_line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Amoxicillin 500 mg / 1 cap CAPSULE PO TID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Last_core_action_sequence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Last_ingred_action_sequence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Comment_type_mask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Need_rx_clin_review_flag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Clin_relevant_updt_dt_tm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10/06/11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PhaMedMgr - Verification – </a:t>
            </a:r>
            <a:r>
              <a:rPr lang="en-US" dirty="0" err="1" smtClean="0"/>
              <a:t>Order_dispense</a:t>
            </a:r>
            <a:r>
              <a:rPr lang="en-US" dirty="0" smtClean="0"/>
              <a:t> Table</a:t>
            </a:r>
            <a:endParaRPr lang="en-US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4"/>
          </p:nvPr>
        </p:nvGraphicFramePr>
        <p:xfrm>
          <a:off x="235579" y="1078304"/>
          <a:ext cx="7959516" cy="55971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7021"/>
                <a:gridCol w="1828800"/>
                <a:gridCol w="2133600"/>
                <a:gridCol w="2480095"/>
              </a:tblGrid>
              <a:tr h="360503">
                <a:tc>
                  <a:txBody>
                    <a:bodyPr/>
                    <a:lstStyle/>
                    <a:p>
                      <a:r>
                        <a:rPr lang="en-US" sz="1000" baseline="0" dirty="0" smtClean="0"/>
                        <a:t>Field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Value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aseline="0" dirty="0" smtClean="0"/>
                        <a:t>Field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Value</a:t>
                      </a:r>
                      <a:endParaRPr lang="en-US" sz="1000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Dispense_category_cd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16794520 (UD)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Unverified_route_cd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Total_dispense_doses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Need_rx_prod_assign_flag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Frequency_id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294893</a:t>
                      </a:r>
                      <a:r>
                        <a:rPr lang="en-US" sz="1000" baseline="0" dirty="0" smtClean="0">
                          <a:solidFill>
                            <a:schemeClr val="bg2"/>
                          </a:solidFill>
                        </a:rPr>
                        <a:t> (TID)</a:t>
                      </a: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Last_clin_review_act_seq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Price_schedule_id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306865 (UD)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Last_clin_review_ingr_seq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Order_cost_value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0.18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 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 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Order_price_value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8.45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 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 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Cart_fill_doses1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 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 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Cart_fill_run_id1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12049682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 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 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Display_line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Amoxicillin 500</a:t>
                      </a:r>
                      <a:r>
                        <a:rPr lang="en-US" sz="1000" baseline="0" dirty="0" smtClean="0">
                          <a:solidFill>
                            <a:schemeClr val="bg2"/>
                          </a:solidFill>
                        </a:rPr>
                        <a:t> mg / 1 cap CAPSULE PO TID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 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Last_ver_act_seq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 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 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Last_ver_ingr_seq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 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 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Need_rx_verify_ind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 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Unverified_comm_type_cd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 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 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Unverified_action_type_cd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 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 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PhaMedMgr - Verify – </a:t>
            </a:r>
            <a:r>
              <a:rPr lang="en-US" dirty="0" err="1" smtClean="0"/>
              <a:t>Order_action</a:t>
            </a:r>
            <a:r>
              <a:rPr lang="en-US" dirty="0" smtClean="0"/>
              <a:t> (new)</a:t>
            </a:r>
            <a:endParaRPr lang="en-US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4"/>
          </p:nvPr>
        </p:nvGraphicFramePr>
        <p:xfrm>
          <a:off x="235579" y="1078304"/>
          <a:ext cx="7959516" cy="54774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7021"/>
                <a:gridCol w="1828800"/>
                <a:gridCol w="2133600"/>
                <a:gridCol w="2480095"/>
              </a:tblGrid>
              <a:tr h="360503">
                <a:tc>
                  <a:txBody>
                    <a:bodyPr/>
                    <a:lstStyle/>
                    <a:p>
                      <a:r>
                        <a:rPr lang="en-US" sz="1000" baseline="0" dirty="0" smtClean="0"/>
                        <a:t>Field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Value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aseline="0" dirty="0" smtClean="0"/>
                        <a:t>Field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Value</a:t>
                      </a:r>
                      <a:endParaRPr lang="en-US" sz="1000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Order_id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160189985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Order_provider_id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1030007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Action_sequence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Incomplete_order_ind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Communication_type_cd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7481283 (Scope of Care)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Order_app_nbr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600005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Action_rejected_ind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Order_action_id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160195140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Order_conversation_id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160195139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Needs_verify_ind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Contributor_system_cd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2476 (POWERCHART)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Inactive_flag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Order_convs_seq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Order_status_cd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1177 (Ordered)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Order_locn_cd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Dept_status_cd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2636 (Ordered)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Action_type_cd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1166</a:t>
                      </a:r>
                      <a:r>
                        <a:rPr lang="en-US" sz="1000" baseline="0" dirty="0" smtClean="0">
                          <a:solidFill>
                            <a:schemeClr val="bg2"/>
                          </a:solidFill>
                        </a:rPr>
                        <a:t> (Modify)</a:t>
                      </a: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Sch_state_cd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8915 (</a:t>
                      </a:r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Unscheduleable</a:t>
                      </a: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)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Order_dt_tm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10/06/11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Eso_action_cd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1167 (Order)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Action_dt_tm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10/06/11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Medstudent_action_ind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Action_personnel_id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10319921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Order_detail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09/30/11 20:00, 09/30/11 20:00, 12.7</a:t>
                      </a:r>
                      <a:r>
                        <a:rPr lang="en-US" sz="1000" baseline="0" dirty="0" smtClean="0">
                          <a:solidFill>
                            <a:schemeClr val="bg2"/>
                          </a:solidFill>
                        </a:rPr>
                        <a:t> 0.59, 500 mg 1 cap CAPSULE PO TID, Routine, 01, 1, 10/06/11 14:00, 4, Central </a:t>
                      </a: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Effetive_dt_tm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10/06/11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Undo_action_type_cd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PhaMedMgr - Verify – </a:t>
            </a:r>
            <a:r>
              <a:rPr lang="en-US" dirty="0" err="1" smtClean="0"/>
              <a:t>Order_action</a:t>
            </a:r>
            <a:r>
              <a:rPr lang="en-US" dirty="0" smtClean="0"/>
              <a:t> (new)</a:t>
            </a:r>
            <a:endParaRPr lang="en-US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4"/>
          </p:nvPr>
        </p:nvGraphicFramePr>
        <p:xfrm>
          <a:off x="235579" y="1078304"/>
          <a:ext cx="7959516" cy="51726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7021"/>
                <a:gridCol w="1828800"/>
                <a:gridCol w="2133600"/>
                <a:gridCol w="2480095"/>
              </a:tblGrid>
              <a:tr h="360503">
                <a:tc>
                  <a:txBody>
                    <a:bodyPr/>
                    <a:lstStyle/>
                    <a:p>
                      <a:r>
                        <a:rPr lang="en-US" sz="1000" baseline="0" dirty="0" smtClean="0"/>
                        <a:t>Field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Value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aseline="0" dirty="0" smtClean="0"/>
                        <a:t>Field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Value</a:t>
                      </a:r>
                      <a:endParaRPr lang="en-US" sz="1000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Clinical_display_line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09/30/11</a:t>
                      </a:r>
                      <a:r>
                        <a:rPr lang="en-US" sz="1000" baseline="0" dirty="0" smtClean="0">
                          <a:solidFill>
                            <a:schemeClr val="bg2"/>
                          </a:solidFill>
                        </a:rPr>
                        <a:t> 20:00, 500 mg = 1 cap CAPSULE PO TID, Routine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Action_qualifier_cd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Core_ind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Current_start_dt_tm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09/30/11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Constant_ind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Valid_dose_dt_tm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10/01/11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Frequency_id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294893 (TID)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Next_dose_dt_tm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10/06/11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PRN_ind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Source_dot_order_id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Stop_type_cd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Source_dot_action_seq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Template_order_flag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Source_protocol_action_seq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Supervising_provider_id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Formulary_status_cd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Digital_signature_ident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Billing_provider_flag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Projected_stop_dt_tm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Simplified_display_line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500 mg, 1 cap, PO, TID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Need_clin_review_flag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Action_initiated_dt_tm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10/06/11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PhaMedMgr - Verify – </a:t>
            </a:r>
            <a:r>
              <a:rPr lang="en-US" dirty="0" err="1" smtClean="0"/>
              <a:t>Order_ingredient</a:t>
            </a:r>
            <a:r>
              <a:rPr lang="en-US" dirty="0" smtClean="0"/>
              <a:t> (new)</a:t>
            </a:r>
            <a:endParaRPr lang="en-US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4"/>
          </p:nvPr>
        </p:nvGraphicFramePr>
        <p:xfrm>
          <a:off x="235579" y="1078304"/>
          <a:ext cx="7959516" cy="51726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7021"/>
                <a:gridCol w="1828800"/>
                <a:gridCol w="2133600"/>
                <a:gridCol w="2480095"/>
              </a:tblGrid>
              <a:tr h="360503">
                <a:tc>
                  <a:txBody>
                    <a:bodyPr/>
                    <a:lstStyle/>
                    <a:p>
                      <a:r>
                        <a:rPr lang="en-US" sz="1000" baseline="0" dirty="0" smtClean="0"/>
                        <a:t>Field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Value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aseline="0" dirty="0" smtClean="0"/>
                        <a:t>Field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Value</a:t>
                      </a:r>
                      <a:endParaRPr lang="en-US" sz="1000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Order_id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160189985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Freq_cd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Action_sequence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IV_seq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Comp_sequence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Dose_quantity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Catalog_type_cd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2776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Dose_quantity_unit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Catalog_cd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7599025 (Pharmacy)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Ordered_as_mnemonic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Amoxicillin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Synonym_id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7599026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Supplied_as_mnemionic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Order_mnemonic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Amoxicillin 500 mg cap.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HNA_Order_mnemonic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Amoxicillin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Order_detail_display_line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500 mg, 1 cap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Ingredient_type_flag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Strength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Clinically_significant_flag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Strength_unit_cd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504 (mg)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Include_in_total_volume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Volume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Ordered_dose_unit_cd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Volume_unit_cd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4586594</a:t>
                      </a:r>
                      <a:r>
                        <a:rPr lang="en-US" sz="1000" baseline="0" dirty="0" smtClean="0">
                          <a:solidFill>
                            <a:schemeClr val="bg2"/>
                          </a:solidFill>
                        </a:rPr>
                        <a:t> (cap)</a:t>
                      </a: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Ordered_dose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Freetext_dose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Dose_calculator_long_text_id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PhaMedMgr - Verify – </a:t>
            </a:r>
            <a:r>
              <a:rPr lang="en-US" dirty="0" err="1" smtClean="0"/>
              <a:t>Order_ingredient</a:t>
            </a:r>
            <a:r>
              <a:rPr lang="en-US" dirty="0" smtClean="0"/>
              <a:t> (new)</a:t>
            </a:r>
            <a:endParaRPr lang="en-US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4"/>
          </p:nvPr>
        </p:nvGraphicFramePr>
        <p:xfrm>
          <a:off x="235579" y="1078304"/>
          <a:ext cx="7959516" cy="55971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7021"/>
                <a:gridCol w="1828800"/>
                <a:gridCol w="2133600"/>
                <a:gridCol w="2480095"/>
              </a:tblGrid>
              <a:tr h="360503">
                <a:tc>
                  <a:txBody>
                    <a:bodyPr/>
                    <a:lstStyle/>
                    <a:p>
                      <a:r>
                        <a:rPr lang="en-US" sz="1000" baseline="0" dirty="0" smtClean="0"/>
                        <a:t>Field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Value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aseline="0" dirty="0" smtClean="0"/>
                        <a:t>Field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Value</a:t>
                      </a:r>
                      <a:endParaRPr lang="en-US" sz="1000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Ingredient_source_flag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Normalized_rate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Normalized_rate_unit_cd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Concentration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Concentration_unit_cd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Dosing_capacity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Dose_adjustment_display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Days_of_administration_display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PhaMedMgr - Verify – </a:t>
            </a:r>
            <a:r>
              <a:rPr lang="en-US" dirty="0" err="1" smtClean="0"/>
              <a:t>Order_detail</a:t>
            </a:r>
            <a:r>
              <a:rPr lang="en-US" dirty="0" smtClean="0"/>
              <a:t> (new)</a:t>
            </a:r>
            <a:endParaRPr lang="en-US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4"/>
          </p:nvPr>
        </p:nvGraphicFramePr>
        <p:xfrm>
          <a:off x="76198" y="1040704"/>
          <a:ext cx="8458201" cy="600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900"/>
                <a:gridCol w="649032"/>
                <a:gridCol w="994646"/>
                <a:gridCol w="800661"/>
                <a:gridCol w="940192"/>
                <a:gridCol w="1422875"/>
                <a:gridCol w="553340"/>
                <a:gridCol w="948583"/>
                <a:gridCol w="790486"/>
                <a:gridCol w="790486"/>
              </a:tblGrid>
              <a:tr h="532511">
                <a:tc>
                  <a:txBody>
                    <a:bodyPr/>
                    <a:lstStyle/>
                    <a:p>
                      <a:r>
                        <a:rPr lang="en-US" sz="1000" dirty="0" err="1" smtClean="0"/>
                        <a:t>Action_seq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/>
                        <a:t>Detail_seq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/>
                        <a:t>OE_Field_display_value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/>
                        <a:t>OE_field_dt_tm_value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/>
                        <a:t>OE_field_id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/>
                        <a:t>OE_field_meaning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/>
                        <a:t>OE_field_value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Order_id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/>
                        <a:t>OE_field_meaning_id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/>
                        <a:t>Parent_action_seqiuence</a:t>
                      </a:r>
                      <a:endParaRPr lang="en-US" sz="1000" dirty="0"/>
                    </a:p>
                  </a:txBody>
                  <a:tcPr/>
                </a:tc>
              </a:tr>
              <a:tr h="236672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4586008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VOLUMEDOSE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160189985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2058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236672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Cap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4664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VOLUMEDOSEUNIT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4586594</a:t>
                      </a:r>
                    </a:p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160189985</a:t>
                      </a:r>
                    </a:p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2059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236672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3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UD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4642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DISPENSECATEGORY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16794520</a:t>
                      </a:r>
                    </a:p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160189985</a:t>
                      </a:r>
                    </a:p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2007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236672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31031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NBROFBAGS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160189985</a:t>
                      </a:r>
                    </a:p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2080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245400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5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10/06/2011</a:t>
                      </a:r>
                      <a:r>
                        <a:rPr lang="en-US" sz="1000" baseline="0" dirty="0" smtClean="0">
                          <a:solidFill>
                            <a:schemeClr val="bg2"/>
                          </a:solidFill>
                        </a:rPr>
                        <a:t> 14:00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10/06/11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4586010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NEXTDOSEDTTM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160189985</a:t>
                      </a:r>
                    </a:p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2096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236672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6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9471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TOTALDISPENSEDOSES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160189985</a:t>
                      </a:r>
                    </a:p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2076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236672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Centaral</a:t>
                      </a:r>
                      <a:r>
                        <a:rPr lang="en-US" sz="1000" baseline="0" dirty="0" smtClean="0">
                          <a:solidFill>
                            <a:schemeClr val="bg2"/>
                          </a:solidFill>
                        </a:rPr>
                        <a:t> Inpatient Pharmacy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4641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DISPENSEFROMLOC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15164649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160189985</a:t>
                      </a:r>
                    </a:p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2006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236672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4586012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INITOVERRIDE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160189985</a:t>
                      </a:r>
                    </a:p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2099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251464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UD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9472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PRICESCHEDULE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306865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160189985</a:t>
                      </a:r>
                    </a:p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2072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236672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8.45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31033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ORDERCOST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8.45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160189985</a:t>
                      </a:r>
                    </a:p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2082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281048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0.17982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31034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ORDERCOST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0.18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160189985</a:t>
                      </a:r>
                    </a:p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2083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266256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18683410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RXFIRSTDOSES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160189985</a:t>
                      </a:r>
                    </a:p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2370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266256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31833217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DISPENSELOC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160189985</a:t>
                      </a:r>
                    </a:p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2400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PhaMedMgr - Verify – </a:t>
            </a:r>
            <a:r>
              <a:rPr lang="en-US" dirty="0" err="1" smtClean="0"/>
              <a:t>Order_product</a:t>
            </a:r>
            <a:r>
              <a:rPr lang="en-US" dirty="0" smtClean="0"/>
              <a:t> (new)</a:t>
            </a:r>
            <a:endParaRPr lang="en-US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4"/>
          </p:nvPr>
        </p:nvGraphicFramePr>
        <p:xfrm>
          <a:off x="235579" y="1078304"/>
          <a:ext cx="7959516" cy="55124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7021"/>
                <a:gridCol w="1828800"/>
                <a:gridCol w="2133600"/>
                <a:gridCol w="2480095"/>
              </a:tblGrid>
              <a:tr h="360503">
                <a:tc>
                  <a:txBody>
                    <a:bodyPr/>
                    <a:lstStyle/>
                    <a:p>
                      <a:r>
                        <a:rPr lang="en-US" sz="1000" baseline="0" dirty="0" smtClean="0"/>
                        <a:t>Field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Value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aseline="0" dirty="0" smtClean="0"/>
                        <a:t>Field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Value</a:t>
                      </a:r>
                      <a:endParaRPr lang="en-US" sz="1000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Item_id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303849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Product_seq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Order_id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160189985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Parent_product_seq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Action_sequence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Auto_assign_flag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Ingred_sequence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On_admin_ind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Tnf_id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Unrounded_dose_qty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Dose_quantity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Strength_with_overfill_value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Dose_quantity_unit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4586594 (CAP)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Strength_with_overfill_unit_cd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Total_dispense_quantity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Volume_with_overfill_value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Total_charge_quantity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Volume_with_overfill_unit_cd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Total_credit_quantity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Dose_quantity_txt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Iv_seq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Ignore_ind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Compound_flag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Cmpd_base_ind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PhaMedMgr - Verify – </a:t>
            </a:r>
            <a:r>
              <a:rPr lang="en-US" dirty="0" err="1" smtClean="0"/>
              <a:t>Order_review</a:t>
            </a:r>
            <a:endParaRPr lang="en-US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4"/>
          </p:nvPr>
        </p:nvGraphicFramePr>
        <p:xfrm>
          <a:off x="235579" y="1078304"/>
          <a:ext cx="7959516" cy="55406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7021"/>
                <a:gridCol w="1828800"/>
                <a:gridCol w="2133600"/>
                <a:gridCol w="2480095"/>
              </a:tblGrid>
              <a:tr h="360503"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Orders</a:t>
                      </a:r>
                      <a:r>
                        <a:rPr lang="en-US" sz="1000" baseline="0" dirty="0" smtClean="0"/>
                        <a:t> Field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Value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Value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Value (New row)</a:t>
                      </a:r>
                      <a:endParaRPr lang="en-US" sz="1000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Order_id</a:t>
                      </a:r>
                      <a:r>
                        <a:rPr lang="en-US" sz="1000" baseline="0" dirty="0" smtClean="0">
                          <a:solidFill>
                            <a:schemeClr val="bg2"/>
                          </a:solidFill>
                        </a:rPr>
                        <a:t> = 160189985, </a:t>
                      </a:r>
                      <a:r>
                        <a:rPr lang="en-US" sz="1000" baseline="0" dirty="0" err="1" smtClean="0">
                          <a:solidFill>
                            <a:schemeClr val="bg2"/>
                          </a:solidFill>
                        </a:rPr>
                        <a:t>Action_sequence</a:t>
                      </a:r>
                      <a:r>
                        <a:rPr lang="en-US" sz="1000" baseline="0" dirty="0" smtClean="0">
                          <a:solidFill>
                            <a:schemeClr val="bg2"/>
                          </a:solidFill>
                        </a:rPr>
                        <a:t> = 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Review_sequence</a:t>
                      </a:r>
                      <a:r>
                        <a:rPr lang="en-US" sz="1000" baseline="0" dirty="0" smtClean="0">
                          <a:solidFill>
                            <a:schemeClr val="bg2"/>
                          </a:solidFill>
                        </a:rPr>
                        <a:t> = 1</a:t>
                      </a: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Review_sequence</a:t>
                      </a: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 = 2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 </a:t>
                      </a:r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Review_sequence</a:t>
                      </a:r>
                      <a:r>
                        <a:rPr lang="en-US" sz="1000" baseline="0" dirty="0" smtClean="0">
                          <a:solidFill>
                            <a:schemeClr val="bg2"/>
                          </a:solidFill>
                        </a:rPr>
                        <a:t> = 3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Review_type_flag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3 (Pharmacy)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 (Physician)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3 (Pharmacy)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Review_reqd_ind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Provider_id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1030007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Location_cd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Dept_cd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Reviewed_status_flag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Review_personnel_id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10319921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Review_dt_tm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10/06/11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Proxy_personnel_id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Proxy_reason_cd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Reject_reason_cd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Digital_signature_ident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Review_grp_value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Dispensing Database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81000" y="990600"/>
            <a:ext cx="2018581" cy="30777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err="1" smtClean="0"/>
              <a:t>Order_product</a:t>
            </a:r>
            <a:endParaRPr lang="en-US" sz="1400" dirty="0"/>
          </a:p>
        </p:txBody>
      </p:sp>
      <p:sp>
        <p:nvSpPr>
          <p:cNvPr id="8" name="TextBox 7"/>
          <p:cNvSpPr txBox="1"/>
          <p:nvPr/>
        </p:nvSpPr>
        <p:spPr>
          <a:xfrm>
            <a:off x="381000" y="1295400"/>
            <a:ext cx="2018581" cy="160043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/>
              <a:t>Order_id</a:t>
            </a:r>
          </a:p>
          <a:p>
            <a:r>
              <a:rPr lang="en-US" sz="1400" dirty="0" err="1" smtClean="0"/>
              <a:t>Action_sequence</a:t>
            </a:r>
            <a:endParaRPr lang="en-US" sz="1400" dirty="0" smtClean="0"/>
          </a:p>
          <a:p>
            <a:r>
              <a:rPr lang="en-US" sz="1400" dirty="0" err="1" smtClean="0"/>
              <a:t>Ingred_sequence</a:t>
            </a:r>
            <a:endParaRPr lang="en-US" sz="1400" dirty="0" smtClean="0"/>
          </a:p>
          <a:p>
            <a:endParaRPr lang="en-US" sz="1400" dirty="0" smtClean="0"/>
          </a:p>
          <a:p>
            <a:r>
              <a:rPr lang="en-US" sz="1400" dirty="0" smtClean="0"/>
              <a:t>Item_id</a:t>
            </a:r>
          </a:p>
          <a:p>
            <a:r>
              <a:rPr lang="en-US" sz="1400" dirty="0" err="1" smtClean="0"/>
              <a:t>Dose_quantity</a:t>
            </a:r>
            <a:endParaRPr lang="en-US" sz="1400" dirty="0" smtClean="0"/>
          </a:p>
          <a:p>
            <a:r>
              <a:rPr lang="en-US" sz="1400" dirty="0" err="1" smtClean="0"/>
              <a:t>Dose_quantity_unit_cd</a:t>
            </a:r>
            <a:endParaRPr lang="en-US" sz="1400" dirty="0" smtClean="0"/>
          </a:p>
        </p:txBody>
      </p:sp>
      <p:sp>
        <p:nvSpPr>
          <p:cNvPr id="11" name="TextBox 10"/>
          <p:cNvSpPr txBox="1"/>
          <p:nvPr/>
        </p:nvSpPr>
        <p:spPr>
          <a:xfrm>
            <a:off x="3124200" y="1676400"/>
            <a:ext cx="2018581" cy="52322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/>
              <a:t>Dispense_hx – Stores  dispensing data</a:t>
            </a:r>
            <a:endParaRPr lang="en-US" sz="1400" dirty="0"/>
          </a:p>
        </p:txBody>
      </p:sp>
      <p:sp>
        <p:nvSpPr>
          <p:cNvPr id="12" name="TextBox 11"/>
          <p:cNvSpPr txBox="1"/>
          <p:nvPr/>
        </p:nvSpPr>
        <p:spPr>
          <a:xfrm>
            <a:off x="3124200" y="2209800"/>
            <a:ext cx="2018581" cy="95410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/>
              <a:t>Order_id</a:t>
            </a:r>
          </a:p>
          <a:p>
            <a:r>
              <a:rPr lang="en-US" sz="1400" dirty="0" err="1" smtClean="0"/>
              <a:t>Action_sequence</a:t>
            </a:r>
            <a:endParaRPr lang="en-US" sz="1400" dirty="0" smtClean="0"/>
          </a:p>
          <a:p>
            <a:endParaRPr lang="en-US" sz="1400" dirty="0" smtClean="0"/>
          </a:p>
          <a:p>
            <a:r>
              <a:rPr lang="en-US" sz="1400" dirty="0" smtClean="0"/>
              <a:t>Dispense_hx_id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19800" y="1066800"/>
            <a:ext cx="2018581" cy="73866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err="1" smtClean="0"/>
              <a:t>MM_trans_header</a:t>
            </a:r>
            <a:r>
              <a:rPr lang="en-US" sz="1400" dirty="0" smtClean="0"/>
              <a:t> – Stores all Inventory transactions</a:t>
            </a:r>
            <a:endParaRPr lang="en-US" sz="1400" dirty="0"/>
          </a:p>
        </p:txBody>
      </p:sp>
      <p:sp>
        <p:nvSpPr>
          <p:cNvPr id="17" name="TextBox 16"/>
          <p:cNvSpPr txBox="1"/>
          <p:nvPr/>
        </p:nvSpPr>
        <p:spPr>
          <a:xfrm>
            <a:off x="6019800" y="1752600"/>
            <a:ext cx="2018581" cy="95410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err="1" smtClean="0"/>
              <a:t>Transaction_id</a:t>
            </a:r>
            <a:endParaRPr lang="en-US" sz="1400" dirty="0" smtClean="0"/>
          </a:p>
          <a:p>
            <a:endParaRPr lang="en-US" sz="1400" dirty="0" smtClean="0"/>
          </a:p>
          <a:p>
            <a:r>
              <a:rPr lang="en-US" sz="1400" dirty="0" err="1" smtClean="0"/>
              <a:t>Parent_entity_id</a:t>
            </a:r>
            <a:endParaRPr lang="en-US" sz="1400" dirty="0" smtClean="0"/>
          </a:p>
          <a:p>
            <a:r>
              <a:rPr lang="en-US" sz="1400" dirty="0" err="1" smtClean="0"/>
              <a:t>Parent_entity_name</a:t>
            </a:r>
            <a:endParaRPr lang="en-US" sz="1400" dirty="0" smtClean="0"/>
          </a:p>
        </p:txBody>
      </p:sp>
      <p:sp>
        <p:nvSpPr>
          <p:cNvPr id="20" name="TextBox 19"/>
          <p:cNvSpPr txBox="1"/>
          <p:nvPr/>
        </p:nvSpPr>
        <p:spPr>
          <a:xfrm>
            <a:off x="3124200" y="3657600"/>
            <a:ext cx="2018581" cy="73866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err="1" smtClean="0"/>
              <a:t>Prod_dispense_hx</a:t>
            </a:r>
            <a:r>
              <a:rPr lang="en-US" sz="1400" dirty="0" smtClean="0"/>
              <a:t> – Stores product dispensing data</a:t>
            </a:r>
            <a:endParaRPr lang="en-US" sz="1400" dirty="0"/>
          </a:p>
        </p:txBody>
      </p:sp>
      <p:sp>
        <p:nvSpPr>
          <p:cNvPr id="21" name="TextBox 20"/>
          <p:cNvSpPr txBox="1"/>
          <p:nvPr/>
        </p:nvSpPr>
        <p:spPr>
          <a:xfrm>
            <a:off x="3124200" y="4419600"/>
            <a:ext cx="2018581" cy="52322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/>
              <a:t>Dispense_hx_id</a:t>
            </a:r>
          </a:p>
          <a:p>
            <a:r>
              <a:rPr lang="en-US" sz="1400" dirty="0" smtClean="0"/>
              <a:t>Item_id</a:t>
            </a:r>
          </a:p>
        </p:txBody>
      </p:sp>
      <p:cxnSp>
        <p:nvCxnSpPr>
          <p:cNvPr id="31" name="Straight Arrow Connector 30"/>
          <p:cNvCxnSpPr>
            <a:stCxn id="8" idx="3"/>
            <a:endCxn id="11" idx="1"/>
          </p:cNvCxnSpPr>
          <p:nvPr/>
        </p:nvCxnSpPr>
        <p:spPr bwMode="auto">
          <a:xfrm flipV="1">
            <a:off x="2399581" y="1938010"/>
            <a:ext cx="724619" cy="157609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3" name="Straight Arrow Connector 32"/>
          <p:cNvCxnSpPr>
            <a:stCxn id="12" idx="2"/>
            <a:endCxn id="20" idx="0"/>
          </p:cNvCxnSpPr>
          <p:nvPr/>
        </p:nvCxnSpPr>
        <p:spPr bwMode="auto">
          <a:xfrm rot="5400000">
            <a:off x="3886645" y="3410753"/>
            <a:ext cx="493693" cy="1588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8" name="Straight Arrow Connector 37"/>
          <p:cNvCxnSpPr>
            <a:stCxn id="11" idx="3"/>
            <a:endCxn id="16" idx="1"/>
          </p:cNvCxnSpPr>
          <p:nvPr/>
        </p:nvCxnSpPr>
        <p:spPr bwMode="auto">
          <a:xfrm flipV="1">
            <a:off x="5142781" y="1436132"/>
            <a:ext cx="877019" cy="501878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2" name="TextBox 41"/>
          <p:cNvSpPr txBox="1"/>
          <p:nvPr/>
        </p:nvSpPr>
        <p:spPr>
          <a:xfrm>
            <a:off x="6019800" y="3124200"/>
            <a:ext cx="2018581" cy="73866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err="1" smtClean="0"/>
              <a:t>MM_trans_line</a:t>
            </a:r>
            <a:r>
              <a:rPr lang="en-US" sz="1400" dirty="0" smtClean="0"/>
              <a:t> – Stores Item/Location details of Inventory transactions</a:t>
            </a:r>
            <a:endParaRPr lang="en-US" sz="1400" dirty="0"/>
          </a:p>
        </p:txBody>
      </p:sp>
      <p:sp>
        <p:nvSpPr>
          <p:cNvPr id="43" name="TextBox 42"/>
          <p:cNvSpPr txBox="1"/>
          <p:nvPr/>
        </p:nvSpPr>
        <p:spPr>
          <a:xfrm>
            <a:off x="6019800" y="3810000"/>
            <a:ext cx="2018581" cy="95410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err="1" smtClean="0"/>
              <a:t>Mm_trans_line_id</a:t>
            </a:r>
            <a:endParaRPr lang="en-US" sz="1400" dirty="0" smtClean="0"/>
          </a:p>
          <a:p>
            <a:endParaRPr lang="en-US" sz="1400" dirty="0" smtClean="0"/>
          </a:p>
          <a:p>
            <a:r>
              <a:rPr lang="en-US" sz="1400" dirty="0" err="1" smtClean="0"/>
              <a:t>Transaction_id</a:t>
            </a:r>
            <a:endParaRPr lang="en-US" sz="1400" dirty="0" smtClean="0"/>
          </a:p>
          <a:p>
            <a:r>
              <a:rPr lang="en-US" sz="1400" dirty="0" smtClean="0"/>
              <a:t>Item_id</a:t>
            </a:r>
          </a:p>
        </p:txBody>
      </p:sp>
      <p:cxnSp>
        <p:nvCxnSpPr>
          <p:cNvPr id="44" name="Straight Arrow Connector 43"/>
          <p:cNvCxnSpPr>
            <a:stCxn id="17" idx="2"/>
            <a:endCxn id="42" idx="0"/>
          </p:cNvCxnSpPr>
          <p:nvPr/>
        </p:nvCxnSpPr>
        <p:spPr bwMode="auto">
          <a:xfrm rot="5400000">
            <a:off x="6820345" y="2915453"/>
            <a:ext cx="417493" cy="1588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8" name="TextBox 47"/>
          <p:cNvSpPr txBox="1"/>
          <p:nvPr/>
        </p:nvSpPr>
        <p:spPr>
          <a:xfrm>
            <a:off x="6019800" y="5105400"/>
            <a:ext cx="2018581" cy="52322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err="1" smtClean="0"/>
              <a:t>MM_trans_gl</a:t>
            </a:r>
            <a:r>
              <a:rPr lang="en-US" sz="1400" dirty="0" smtClean="0"/>
              <a:t> – Stores GL transactions</a:t>
            </a:r>
            <a:endParaRPr lang="en-US" sz="1400" dirty="0"/>
          </a:p>
        </p:txBody>
      </p:sp>
      <p:sp>
        <p:nvSpPr>
          <p:cNvPr id="49" name="TextBox 48"/>
          <p:cNvSpPr txBox="1"/>
          <p:nvPr/>
        </p:nvSpPr>
        <p:spPr>
          <a:xfrm>
            <a:off x="6019800" y="5638800"/>
            <a:ext cx="2018581" cy="95410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err="1" smtClean="0"/>
              <a:t>Mm_trans_gl_id</a:t>
            </a:r>
            <a:endParaRPr lang="en-US" sz="1400" dirty="0" smtClean="0"/>
          </a:p>
          <a:p>
            <a:endParaRPr lang="en-US" sz="1400" dirty="0" smtClean="0"/>
          </a:p>
          <a:p>
            <a:r>
              <a:rPr lang="en-US" sz="1400" dirty="0" err="1" smtClean="0"/>
              <a:t>Transaction_id</a:t>
            </a:r>
            <a:endParaRPr lang="en-US" sz="1400" dirty="0" smtClean="0"/>
          </a:p>
          <a:p>
            <a:r>
              <a:rPr lang="en-US" sz="1400" dirty="0" err="1" smtClean="0"/>
              <a:t>Mm_trans_line_id</a:t>
            </a:r>
            <a:endParaRPr lang="en-US" sz="1400" dirty="0" smtClean="0"/>
          </a:p>
        </p:txBody>
      </p:sp>
      <p:cxnSp>
        <p:nvCxnSpPr>
          <p:cNvPr id="50" name="Straight Arrow Connector 49"/>
          <p:cNvCxnSpPr>
            <a:stCxn id="43" idx="2"/>
            <a:endCxn id="48" idx="0"/>
          </p:cNvCxnSpPr>
          <p:nvPr/>
        </p:nvCxnSpPr>
        <p:spPr bwMode="auto">
          <a:xfrm rot="5400000">
            <a:off x="6858445" y="4934753"/>
            <a:ext cx="341293" cy="1588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3" name="Straight Arrow Connector 52"/>
          <p:cNvCxnSpPr>
            <a:stCxn id="20" idx="3"/>
            <a:endCxn id="42" idx="1"/>
          </p:cNvCxnSpPr>
          <p:nvPr/>
        </p:nvCxnSpPr>
        <p:spPr bwMode="auto">
          <a:xfrm flipV="1">
            <a:off x="5142781" y="3493532"/>
            <a:ext cx="877019" cy="533400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7" name="TextBox 56"/>
          <p:cNvSpPr txBox="1"/>
          <p:nvPr/>
        </p:nvSpPr>
        <p:spPr>
          <a:xfrm>
            <a:off x="381000" y="3352800"/>
            <a:ext cx="2018581" cy="73866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err="1" smtClean="0"/>
              <a:t>Charge_event</a:t>
            </a:r>
            <a:r>
              <a:rPr lang="en-US" sz="1400" dirty="0" smtClean="0"/>
              <a:t> – Relates dispense events to Charge Database</a:t>
            </a:r>
            <a:endParaRPr lang="en-US" sz="1400" dirty="0"/>
          </a:p>
        </p:txBody>
      </p:sp>
      <p:sp>
        <p:nvSpPr>
          <p:cNvPr id="58" name="TextBox 57"/>
          <p:cNvSpPr txBox="1"/>
          <p:nvPr/>
        </p:nvSpPr>
        <p:spPr>
          <a:xfrm>
            <a:off x="381000" y="4038600"/>
            <a:ext cx="2018581" cy="95410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err="1" smtClean="0"/>
              <a:t>Charge_event_id</a:t>
            </a:r>
            <a:endParaRPr lang="en-US" sz="1400" dirty="0" smtClean="0"/>
          </a:p>
          <a:p>
            <a:endParaRPr lang="en-US" sz="1400" dirty="0" smtClean="0"/>
          </a:p>
          <a:p>
            <a:r>
              <a:rPr lang="en-US" sz="1400" dirty="0" err="1" smtClean="0"/>
              <a:t>Ext_m_event_id</a:t>
            </a:r>
            <a:endParaRPr lang="en-US" sz="1400" dirty="0" smtClean="0"/>
          </a:p>
          <a:p>
            <a:r>
              <a:rPr lang="en-US" sz="1400" dirty="0" err="1" smtClean="0"/>
              <a:t>Ext_i_reference_id</a:t>
            </a:r>
            <a:endParaRPr lang="en-US" sz="1400" dirty="0" smtClean="0"/>
          </a:p>
        </p:txBody>
      </p:sp>
      <p:sp>
        <p:nvSpPr>
          <p:cNvPr id="59" name="TextBox 58"/>
          <p:cNvSpPr txBox="1"/>
          <p:nvPr/>
        </p:nvSpPr>
        <p:spPr>
          <a:xfrm>
            <a:off x="381000" y="5334000"/>
            <a:ext cx="2018581" cy="52322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/>
              <a:t>Charge– Stores Charge transactions</a:t>
            </a:r>
            <a:endParaRPr lang="en-US" sz="1400" dirty="0"/>
          </a:p>
        </p:txBody>
      </p:sp>
      <p:sp>
        <p:nvSpPr>
          <p:cNvPr id="60" name="TextBox 59"/>
          <p:cNvSpPr txBox="1"/>
          <p:nvPr/>
        </p:nvSpPr>
        <p:spPr>
          <a:xfrm>
            <a:off x="381000" y="5867400"/>
            <a:ext cx="2018581" cy="73866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err="1" smtClean="0"/>
              <a:t>Charge_item_id</a:t>
            </a:r>
            <a:endParaRPr lang="en-US" sz="1400" dirty="0" smtClean="0"/>
          </a:p>
          <a:p>
            <a:endParaRPr lang="en-US" sz="1400" dirty="0" smtClean="0"/>
          </a:p>
          <a:p>
            <a:r>
              <a:rPr lang="en-US" sz="1400" dirty="0" err="1" smtClean="0"/>
              <a:t>Charge_event_id</a:t>
            </a:r>
            <a:endParaRPr lang="en-US" sz="1400" dirty="0" smtClean="0"/>
          </a:p>
        </p:txBody>
      </p:sp>
      <p:cxnSp>
        <p:nvCxnSpPr>
          <p:cNvPr id="61" name="Straight Arrow Connector 60"/>
          <p:cNvCxnSpPr>
            <a:stCxn id="58" idx="2"/>
            <a:endCxn id="59" idx="0"/>
          </p:cNvCxnSpPr>
          <p:nvPr/>
        </p:nvCxnSpPr>
        <p:spPr bwMode="auto">
          <a:xfrm rot="5400000">
            <a:off x="1219645" y="5163353"/>
            <a:ext cx="341293" cy="1588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2" name="Straight Arrow Connector 61"/>
          <p:cNvCxnSpPr>
            <a:stCxn id="20" idx="1"/>
            <a:endCxn id="57" idx="3"/>
          </p:cNvCxnSpPr>
          <p:nvPr/>
        </p:nvCxnSpPr>
        <p:spPr bwMode="auto">
          <a:xfrm rot="10800000">
            <a:off x="2399582" y="3722132"/>
            <a:ext cx="724619" cy="304800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PhaMedMgr - Verify – Dispense_hx</a:t>
            </a:r>
            <a:endParaRPr lang="en-US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4"/>
          </p:nvPr>
        </p:nvGraphicFramePr>
        <p:xfrm>
          <a:off x="235579" y="1078304"/>
          <a:ext cx="7959516" cy="51444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7021"/>
                <a:gridCol w="1828800"/>
                <a:gridCol w="2133600"/>
                <a:gridCol w="2480095"/>
              </a:tblGrid>
              <a:tr h="360503">
                <a:tc>
                  <a:txBody>
                    <a:bodyPr/>
                    <a:lstStyle/>
                    <a:p>
                      <a:r>
                        <a:rPr lang="en-US" sz="1000" baseline="0" dirty="0" smtClean="0"/>
                        <a:t>Field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Value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aseline="0" dirty="0" smtClean="0"/>
                        <a:t>Field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Value</a:t>
                      </a:r>
                      <a:endParaRPr lang="en-US" sz="1000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Dispense_hx_id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12049683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 </a:t>
                      </a:r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Event_id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Order_id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160189985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 </a:t>
                      </a:r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First_iv_seq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Action_sequence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 Pharm_type_cd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6600991 (Pharmacy)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Disp_event_type_cd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30004</a:t>
                      </a:r>
                      <a:r>
                        <a:rPr lang="en-US" sz="1000" baseline="0" dirty="0" smtClean="0">
                          <a:solidFill>
                            <a:schemeClr val="bg2"/>
                          </a:solidFill>
                        </a:rPr>
                        <a:t> (Initial Dose)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 </a:t>
                      </a:r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Disp_sr_cd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15164725 (</a:t>
                      </a:r>
                      <a:r>
                        <a:rPr lang="en-US" sz="1000" kern="1200" baseline="0" dirty="0" smtClean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+mn-cs"/>
                        </a:rPr>
                        <a:t>Central Rx </a:t>
                      </a:r>
                      <a:r>
                        <a:rPr lang="en-US" sz="1000" kern="1200" baseline="0" dirty="0" err="1" smtClean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+mn-cs"/>
                        </a:rPr>
                        <a:t>Wkst</a:t>
                      </a:r>
                      <a:r>
                        <a:rPr lang="en-US" sz="1000" kern="1200" baseline="0" dirty="0" smtClean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Reason_cd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 </a:t>
                      </a:r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Charge_dt_tm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10/06/11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 </a:t>
                      </a:r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Fill_hx_id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 </a:t>
                      </a:r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Disp_loc_cd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15164649 (Central </a:t>
                      </a:r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Inpat</a:t>
                      </a: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)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 Doses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 </a:t>
                      </a:r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Dispense_prsnl_id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Event_total_price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33.80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 </a:t>
                      </a:r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Transfer_to_loc_cd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First_dose_time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10/06/11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Charge_ind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Run_user_id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10319921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 </a:t>
                      </a:r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Auto_credit_ind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 </a:t>
                      </a:r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Next_dispense_dt_tm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09/30/11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Unique_schedule_seq_nbr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 </a:t>
                      </a:r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Prev_dispense_dt_tm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10/06/11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Skipped_schedule_seq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 </a:t>
                      </a:r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Chrg_dispense_hx_id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First_schedule_seq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PhaMedMgr - Verify – </a:t>
            </a:r>
            <a:r>
              <a:rPr lang="en-US" dirty="0" err="1" smtClean="0"/>
              <a:t>Prod_dispense_hx</a:t>
            </a:r>
            <a:endParaRPr lang="en-US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4"/>
          </p:nvPr>
        </p:nvGraphicFramePr>
        <p:xfrm>
          <a:off x="235579" y="1078304"/>
          <a:ext cx="7959516" cy="51444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7021"/>
                <a:gridCol w="1828800"/>
                <a:gridCol w="2133600"/>
                <a:gridCol w="2480095"/>
              </a:tblGrid>
              <a:tr h="360503">
                <a:tc>
                  <a:txBody>
                    <a:bodyPr/>
                    <a:lstStyle/>
                    <a:p>
                      <a:r>
                        <a:rPr lang="en-US" sz="1000" baseline="0" dirty="0" smtClean="0"/>
                        <a:t>Field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Value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aseline="0" dirty="0" smtClean="0"/>
                        <a:t>Field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Value</a:t>
                      </a:r>
                      <a:endParaRPr lang="en-US" sz="1000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Dispense_hx_id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12049683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Charge_ind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Ingred_sequence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Prod_dispense_hx_id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12049684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Item_id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303849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Tnf_id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 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 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Charge_qty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 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 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Credit_qty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 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 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Manf_item_id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5379783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 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 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Cost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 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 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Price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33.80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 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 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Med_product_id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1586005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 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 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Product_seq</a:t>
                      </a: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 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 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 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Parent_product_seq</a:t>
                      </a: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 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 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 </a:t>
                      </a: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Compound_flag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 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 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PhaMedMgr - Verify – </a:t>
            </a:r>
            <a:r>
              <a:rPr lang="en-US" dirty="0" err="1" smtClean="0"/>
              <a:t>Charge_event</a:t>
            </a:r>
            <a:endParaRPr lang="en-US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4"/>
          </p:nvPr>
        </p:nvGraphicFramePr>
        <p:xfrm>
          <a:off x="235579" y="1078304"/>
          <a:ext cx="7959516" cy="1520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7021"/>
                <a:gridCol w="1828800"/>
                <a:gridCol w="2133600"/>
                <a:gridCol w="2480095"/>
              </a:tblGrid>
              <a:tr h="360503">
                <a:tc>
                  <a:txBody>
                    <a:bodyPr/>
                    <a:lstStyle/>
                    <a:p>
                      <a:r>
                        <a:rPr lang="en-US" sz="1000" baseline="0" dirty="0" smtClean="0"/>
                        <a:t>Field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Value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aseline="0" dirty="0" smtClean="0"/>
                        <a:t>Field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Value</a:t>
                      </a:r>
                      <a:endParaRPr lang="en-US" sz="1000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Charge_event_id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273959894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Ext_m_event_id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12049683 (matches to Dispense_hx_id)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Ext_i_reference_id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5379783 (matches to </a:t>
                      </a:r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Manf_item_id</a:t>
                      </a: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)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PhaMedMgr - Verify – Charge</a:t>
            </a:r>
            <a:endParaRPr lang="en-US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4"/>
          </p:nvPr>
        </p:nvGraphicFramePr>
        <p:xfrm>
          <a:off x="235579" y="1078304"/>
          <a:ext cx="7959516" cy="51726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7021"/>
                <a:gridCol w="1828800"/>
                <a:gridCol w="2133600"/>
                <a:gridCol w="2480095"/>
              </a:tblGrid>
              <a:tr h="360503">
                <a:tc>
                  <a:txBody>
                    <a:bodyPr/>
                    <a:lstStyle/>
                    <a:p>
                      <a:r>
                        <a:rPr lang="en-US" sz="1000" baseline="0" dirty="0" smtClean="0"/>
                        <a:t>Field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Value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aseline="0" dirty="0" smtClean="0"/>
                        <a:t>Field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Value</a:t>
                      </a:r>
                      <a:endParaRPr lang="en-US" sz="1000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Charge_item_id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273959900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Item_extended_price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33.80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Parent_charge_item_id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Charge_event_acct_id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273959895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Charge_event_id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273959894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Bill_item_id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317918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Order_id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160189985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Encntr_id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12614704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Person_id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9640430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Payor_id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61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Charge_description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Amoxicillin 500 mg / 1 cap CAPSULE PO TID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Price_sched_id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306865 (UD)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Item_quantity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Item_price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8.45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PhaMedMgr - Verify – </a:t>
            </a:r>
            <a:r>
              <a:rPr lang="en-US" dirty="0" err="1" smtClean="0"/>
              <a:t>mm_trans_header</a:t>
            </a:r>
            <a:endParaRPr lang="en-US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4"/>
          </p:nvPr>
        </p:nvGraphicFramePr>
        <p:xfrm>
          <a:off x="235579" y="1078304"/>
          <a:ext cx="7959516" cy="51444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7021"/>
                <a:gridCol w="1828800"/>
                <a:gridCol w="2133600"/>
                <a:gridCol w="2480095"/>
              </a:tblGrid>
              <a:tr h="360503">
                <a:tc>
                  <a:txBody>
                    <a:bodyPr/>
                    <a:lstStyle/>
                    <a:p>
                      <a:r>
                        <a:rPr lang="en-US" sz="1000" baseline="0" dirty="0" smtClean="0"/>
                        <a:t>Field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Value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aseline="0" dirty="0" smtClean="0"/>
                        <a:t>Field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Value</a:t>
                      </a:r>
                      <a:endParaRPr lang="en-US" sz="1000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Transaction_id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10633235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PO_receipt_id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Trans_number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2274808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Requisition_id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Trans_dt_tm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10/06/11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Req_nbr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Trans_type_cd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1359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Distribution_id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Trans_type_disp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Adjustment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Dist_nbr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Trans_person_id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Batch_id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Trans_person_name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SYSTEM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Batch_submit_dt_tm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Parent_entity_id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kern="1200" baseline="0" dirty="0" smtClean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+mn-cs"/>
                        </a:rPr>
                        <a:t> 12049683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Logical_domain_id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Parent_entity_name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DISPENSE_HX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Create_dt_tm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10/06/11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Purchase_order_id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PO_nbr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PO_Receipt_id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PhaMedMgr - Verify – </a:t>
            </a:r>
            <a:r>
              <a:rPr lang="en-US" dirty="0" err="1" smtClean="0"/>
              <a:t>mm_trans_line</a:t>
            </a:r>
            <a:endParaRPr lang="en-US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4"/>
          </p:nvPr>
        </p:nvGraphicFramePr>
        <p:xfrm>
          <a:off x="235579" y="1078304"/>
          <a:ext cx="7959516" cy="51444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7021"/>
                <a:gridCol w="1828800"/>
                <a:gridCol w="2133600"/>
                <a:gridCol w="2480095"/>
              </a:tblGrid>
              <a:tr h="360503">
                <a:tc>
                  <a:txBody>
                    <a:bodyPr/>
                    <a:lstStyle/>
                    <a:p>
                      <a:r>
                        <a:rPr lang="en-US" sz="1000" baseline="0" dirty="0" smtClean="0"/>
                        <a:t>Field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Value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aseline="0" dirty="0" smtClean="0"/>
                        <a:t>Field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Value</a:t>
                      </a:r>
                      <a:endParaRPr lang="en-US" sz="1000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MM_trans_line_id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kern="1200" baseline="0" dirty="0" smtClean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+mn-cs"/>
                        </a:rPr>
                        <a:t>10633236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From_qty_unit_cost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0.12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Transaction_id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kern="1200" baseline="0" dirty="0" smtClean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+mn-cs"/>
                        </a:rPr>
                        <a:t>10633235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From_location_cd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19106319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Trans_status_cd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6592501 (Valid)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From_location_disp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Central  IP Inv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Trans_parent_trans_id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From_location_desc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Central</a:t>
                      </a:r>
                      <a:r>
                        <a:rPr lang="en-US" sz="1000" baseline="0" dirty="0" smtClean="0">
                          <a:solidFill>
                            <a:schemeClr val="bg2"/>
                          </a:solidFill>
                        </a:rPr>
                        <a:t> Inpatient Inventory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Item_id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303849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From_last_cost_old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Item_nbr_id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2957092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From_last_cost_new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Item_nbr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1314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From_average_cost_old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0.12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Item_desc_id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303851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From_average_cost_new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0.12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Item_desc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Amoxicillin 500 mg cap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From_pkg_type_id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303860 (Each)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Item_type_cd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1326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From_pkg_uom_cd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478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Item_type_disp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Medication Definition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From_pkg_uom_disp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Each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Item_type_desc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Medication Definition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From_pkg_uom_desc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From_trans_qty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4.00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From_pkg_qty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PhaMedMgr - Verify – </a:t>
            </a:r>
            <a:r>
              <a:rPr lang="en-US" dirty="0" err="1" smtClean="0"/>
              <a:t>mm_trans_line</a:t>
            </a:r>
            <a:endParaRPr lang="en-US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4"/>
          </p:nvPr>
        </p:nvGraphicFramePr>
        <p:xfrm>
          <a:off x="235579" y="1078304"/>
          <a:ext cx="7959516" cy="51444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7021"/>
                <a:gridCol w="1828800"/>
                <a:gridCol w="2133600"/>
                <a:gridCol w="2480095"/>
              </a:tblGrid>
              <a:tr h="360503">
                <a:tc>
                  <a:txBody>
                    <a:bodyPr/>
                    <a:lstStyle/>
                    <a:p>
                      <a:r>
                        <a:rPr lang="en-US" sz="1000" baseline="0" dirty="0" smtClean="0"/>
                        <a:t>Field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Value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aseline="0" dirty="0" smtClean="0"/>
                        <a:t>Field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Value</a:t>
                      </a:r>
                      <a:endParaRPr lang="en-US" sz="1000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From_qoh_old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494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To_qoh_new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From_qoh_new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490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To_qoh_type_cd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From_qoh_type_cd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1373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To_qoh_type_disp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From_qoh_type_disp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Unrestricted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To_qoh_type_desc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From_qoh_type_desc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Unrestricted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To_pkg_type_id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To_last_cost_old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To_pkg_desc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 each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To_last_cost_new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To_pkg_uom_cd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478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To_average_cost_new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To_pkg_uom_disp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each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To_average_cost_old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To_pkg_uom_desc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Each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To_location_cd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To_pkg_qty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To_location_disp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To_qty_unit_cost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To_location_desc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Base_qty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To_qoh_old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Base_pkg_type_id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303860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PhaMedMgr - Verify – </a:t>
            </a:r>
            <a:r>
              <a:rPr lang="en-US" dirty="0" err="1" smtClean="0"/>
              <a:t>mm_trans_line</a:t>
            </a:r>
            <a:endParaRPr lang="en-US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4"/>
          </p:nvPr>
        </p:nvGraphicFramePr>
        <p:xfrm>
          <a:off x="235579" y="1078304"/>
          <a:ext cx="7959516" cy="51444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7021"/>
                <a:gridCol w="1828800"/>
                <a:gridCol w="2133600"/>
                <a:gridCol w="2480095"/>
              </a:tblGrid>
              <a:tr h="360503">
                <a:tc>
                  <a:txBody>
                    <a:bodyPr/>
                    <a:lstStyle/>
                    <a:p>
                      <a:r>
                        <a:rPr lang="en-US" sz="1000" baseline="0" dirty="0" smtClean="0"/>
                        <a:t>Field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Value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aseline="0" dirty="0" smtClean="0"/>
                        <a:t>Field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Value</a:t>
                      </a:r>
                      <a:endParaRPr lang="en-US" sz="1000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Base_pkg_desc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each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Price_po_id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Base_pkg_uom_cd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478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Price_po_nbr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Base_pkg_uom_disp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Each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Price_changed_qty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Base_pkg_uom_desc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Each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Price_cost_old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Reason_cd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10856238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Price_cost_new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Reason_disp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Patient Charge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Price_original_trans_id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Reason_desc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Patient</a:t>
                      </a:r>
                      <a:r>
                        <a:rPr lang="en-US" sz="1000" baseline="0" dirty="0" smtClean="0">
                          <a:solidFill>
                            <a:schemeClr val="bg2"/>
                          </a:solidFill>
                        </a:rPr>
                        <a:t> Charge</a:t>
                      </a:r>
                      <a:endParaRPr lang="en-US" sz="1000" dirty="0" smtClean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Price_original_trans_dt_tm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Project_code_cd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Price_vendor_cd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Project_code_disp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Price_vendor_disp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Project_code_desc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Price_vendor_desc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Misc_code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Create_dt_tm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10/06/11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Control_nbr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Impact_usage_ind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Hold_ind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Actual_from_pkg_type_id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303860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PhaMedMgr - Verify – </a:t>
            </a:r>
            <a:r>
              <a:rPr lang="en-US" dirty="0" err="1" smtClean="0"/>
              <a:t>mm_trans_line</a:t>
            </a:r>
            <a:endParaRPr lang="en-US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4"/>
          </p:nvPr>
        </p:nvGraphicFramePr>
        <p:xfrm>
          <a:off x="235579" y="1078304"/>
          <a:ext cx="7959516" cy="51726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7021"/>
                <a:gridCol w="1828800"/>
                <a:gridCol w="2133600"/>
                <a:gridCol w="2480095"/>
              </a:tblGrid>
              <a:tr h="360503">
                <a:tc>
                  <a:txBody>
                    <a:bodyPr/>
                    <a:lstStyle/>
                    <a:p>
                      <a:r>
                        <a:rPr lang="en-US" sz="1000" baseline="0" dirty="0" smtClean="0"/>
                        <a:t>Field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Value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aseline="0" dirty="0" smtClean="0"/>
                        <a:t>Field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Value</a:t>
                      </a:r>
                      <a:endParaRPr lang="en-US" sz="1000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Actual_to_pkg_type_id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Receipt_line_item_id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Actual_from_trans_qty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4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Consign_ind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Actual_to_trans_qty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Consign_process_flag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Actual_from_qty_unit_cost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Pcb_last_cost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To_trans_qty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Db_last_coat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From_locator_cd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Pcb_avg_cost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From_locator_desc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Db_avg_cost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From_locator_disp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Patient_id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9640430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Bill_only_ind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Encntr_id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12614704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Line_item_id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Batch_id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Po_line_nbr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Batch_submit_dt_tm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Req_line_nbr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Qoh_flag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Cost_override_ind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Transfer_flag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PhaMedMgr - Verify – </a:t>
            </a:r>
            <a:r>
              <a:rPr lang="en-US" dirty="0" err="1" smtClean="0"/>
              <a:t>mm_trans_line</a:t>
            </a:r>
            <a:endParaRPr lang="en-US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4"/>
          </p:nvPr>
        </p:nvGraphicFramePr>
        <p:xfrm>
          <a:off x="235579" y="1078304"/>
          <a:ext cx="7959516" cy="51444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7021"/>
                <a:gridCol w="1828800"/>
                <a:gridCol w="2133600"/>
                <a:gridCol w="2480095"/>
              </a:tblGrid>
              <a:tr h="360503">
                <a:tc>
                  <a:txBody>
                    <a:bodyPr/>
                    <a:lstStyle/>
                    <a:p>
                      <a:r>
                        <a:rPr lang="en-US" sz="1000" baseline="0" dirty="0" smtClean="0"/>
                        <a:t>Field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Value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aseline="0" dirty="0" smtClean="0"/>
                        <a:t>Field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Value</a:t>
                      </a:r>
                      <a:endParaRPr lang="en-US" sz="1000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Offset_location_cd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Lot_parent_entity_name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PROD_DISPENSE_HX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Lot_parent_entity_id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12049684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PhaMedMgr - Verify – </a:t>
            </a:r>
            <a:r>
              <a:rPr lang="en-US" dirty="0" err="1" smtClean="0"/>
              <a:t>mm_trans_gl</a:t>
            </a:r>
            <a:endParaRPr lang="en-US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4"/>
          </p:nvPr>
        </p:nvGraphicFramePr>
        <p:xfrm>
          <a:off x="235579" y="1078304"/>
          <a:ext cx="7959516" cy="51726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7021"/>
                <a:gridCol w="1828800"/>
                <a:gridCol w="2133600"/>
                <a:gridCol w="2480095"/>
              </a:tblGrid>
              <a:tr h="360503">
                <a:tc>
                  <a:txBody>
                    <a:bodyPr/>
                    <a:lstStyle/>
                    <a:p>
                      <a:r>
                        <a:rPr lang="en-US" sz="1000" baseline="0" dirty="0" smtClean="0"/>
                        <a:t>Field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Value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aseline="0" dirty="0" smtClean="0"/>
                        <a:t>Field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Value</a:t>
                      </a:r>
                      <a:endParaRPr lang="en-US" sz="1000" dirty="0"/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Additional_type_cd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From_cost_center_desc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PHARMACY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Mm_trans_gl_id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10633237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From_sub_account_cd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18828747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Transaction_id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10633235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From_sub_account_disp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000000000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Mm_trans_line_id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10633236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From_sub_account_desc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Pharmacy</a:t>
                      </a:r>
                      <a:r>
                        <a:rPr lang="en-US" sz="1000" baseline="0" dirty="0" smtClean="0">
                          <a:solidFill>
                            <a:schemeClr val="bg2"/>
                          </a:solidFill>
                        </a:rPr>
                        <a:t> Supplies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Trans_status_cd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6592501 (Valid)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Amount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0.49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To_cost_center_cd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18802978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Create_dm_tm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10/06/11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To_cost_center_disp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0340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From_company_code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To_cost_center_desc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PHARMACY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From_org_id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61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To_sub_account_cd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18828747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From_org_name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St. Jude Children’s Research Hospital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To_sub_account_disp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00000000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To_org_id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61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To_sub_account_desc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Pharmacy Supplies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To_org_name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St. Jude Children’s Research Hospital</a:t>
                      </a:r>
                    </a:p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From_cost_center_cd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18802978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7993">
                <a:tc>
                  <a:txBody>
                    <a:bodyPr/>
                    <a:lstStyle/>
                    <a:p>
                      <a:r>
                        <a:rPr lang="en-US" sz="1000" dirty="0" err="1" smtClean="0">
                          <a:solidFill>
                            <a:schemeClr val="bg2"/>
                          </a:solidFill>
                        </a:rPr>
                        <a:t>From_cost_center_disp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>
                          <a:solidFill>
                            <a:schemeClr val="bg2"/>
                          </a:solidFill>
                        </a:rPr>
                        <a:t>0340</a:t>
                      </a:r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PhaMedMgr – Verify – Full Query</a:t>
            </a:r>
            <a:endParaRPr lang="en-US" dirty="0"/>
          </a:p>
        </p:txBody>
      </p:sp>
      <p:pic>
        <p:nvPicPr>
          <p:cNvPr id="93186" name="Picture 2"/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/>
          <a:srcRect l="2445" r="2445"/>
          <a:stretch>
            <a:fillRect/>
          </a:stretch>
        </p:blipFill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PhaMedMgr – Verify – Full Query</a:t>
            </a:r>
            <a:endParaRPr lang="en-US" dirty="0"/>
          </a:p>
        </p:txBody>
      </p:sp>
      <p:pic>
        <p:nvPicPr>
          <p:cNvPr id="118785" name="Picture 1"/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/>
          <a:srcRect l="2445" r="2445"/>
          <a:stretch>
            <a:fillRect/>
          </a:stretch>
        </p:blipFill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PhaMedMgr – Verify – Full Query example</a:t>
            </a:r>
            <a:endParaRPr lang="en-US" dirty="0"/>
          </a:p>
        </p:txBody>
      </p:sp>
      <p:graphicFrame>
        <p:nvGraphicFramePr>
          <p:cNvPr id="110595" name="Object 3"/>
          <p:cNvGraphicFramePr>
            <a:graphicFrameLocks noChangeAspect="1"/>
          </p:cNvGraphicFramePr>
          <p:nvPr/>
        </p:nvGraphicFramePr>
        <p:xfrm>
          <a:off x="3810000" y="3086100"/>
          <a:ext cx="1522413" cy="685800"/>
        </p:xfrm>
        <a:graphic>
          <a:graphicData uri="http://schemas.openxmlformats.org/presentationml/2006/ole">
            <p:oleObj spid="_x0000_s110595" name="Package" showAsIcon="1" r:id="rId3" imgW="1522800" imgH="685440" progId="Package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Title Slide&amp;quot;&quot;/&gt;&lt;property id=&quot;20307&quot; value=&quot;448&quot;/&gt;&lt;/object&gt;&lt;object type=&quot;3&quot; unique_id=&quot;10005&quot;&gt;&lt;property id=&quot;20148&quot; value=&quot;5&quot;/&gt;&lt;property id=&quot;20300&quot; value=&quot;Slide 2 - &amp;quot;Divider / Alternate Title Slide&amp;quot;&quot;/&gt;&lt;property id=&quot;20307&quot; value=&quot;450&quot;/&gt;&lt;/object&gt;&lt;object type=&quot;3&quot; unique_id=&quot;10006&quot;&gt;&lt;property id=&quot;20148&quot; value=&quot;5&quot;/&gt;&lt;property id=&quot;20300&quot; value=&quot;Slide 3 - &amp;quot;Divider Slide 2&amp;quot;&quot;/&gt;&lt;property id=&quot;20307&quot; value=&quot;451&quot;/&gt;&lt;/object&gt;&lt;object type=&quot;3&quot; unique_id=&quot;10007&quot;&gt;&lt;property id=&quot;20148&quot; value=&quot;5&quot;/&gt;&lt;property id=&quot;20300&quot; value=&quot;Slide 4 - &amp;quot;Main Bullet Slide Layout&amp;quot;&quot;/&gt;&lt;property id=&quot;20307&quot; value=&quot;449&quot;/&gt;&lt;/object&gt;&lt;object type=&quot;3&quot; unique_id=&quot;10008&quot;&gt;&lt;property id=&quot;20148&quot; value=&quot;5&quot;/&gt;&lt;property id=&quot;20300&quot; value=&quot;Slide 5 - &amp;quot;Images and Text Layout&amp;quot;&quot;/&gt;&lt;property id=&quot;20307&quot; value=&quot;453&quot;/&gt;&lt;/object&gt;&lt;object type=&quot;3&quot; unique_id=&quot;10009&quot;&gt;&lt;property id=&quot;20148&quot; value=&quot;5&quot;/&gt;&lt;property id=&quot;20300&quot; value=&quot;Slide 6 - &amp;quot;Primary Image and Title Layout&amp;quot;&quot;/&gt;&lt;property id=&quot;20307&quot; value=&quot;452&quot;/&gt;&lt;/object&gt;&lt;object type=&quot;3&quot; unique_id=&quot;10010&quot;&gt;&lt;property id=&quot;20148&quot; value=&quot;5&quot;/&gt;&lt;property id=&quot;20300&quot; value=&quot;Slide 7 - &amp;quot;Callout with Text&amp;quot;&quot;/&gt;&lt;property id=&quot;20307&quot; value=&quot;456&quot;/&gt;&lt;/object&gt;&lt;object type=&quot;3&quot; unique_id=&quot;10011&quot;&gt;&lt;property id=&quot;20148&quot; value=&quot;5&quot;/&gt;&lt;property id=&quot;20300&quot; value=&quot;Slide 8&quot;/&gt;&lt;property id=&quot;20307&quot; value=&quot;454&quot;/&gt;&lt;/object&gt;&lt;object type=&quot;3&quot; unique_id=&quot;10012&quot;&gt;&lt;property id=&quot;20148&quot; value=&quot;5&quot;/&gt;&lt;property id=&quot;20300&quot; value=&quot;Slide 9&quot;/&gt;&lt;property id=&quot;20307&quot; value=&quot;455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CHC2011_PPT_Template_150dpi[1]">
  <a:themeElements>
    <a:clrScheme name="Cerner_Custom">
      <a:dk1>
        <a:srgbClr val="0D94D2"/>
      </a:dk1>
      <a:lt1>
        <a:srgbClr val="FFFFFF"/>
      </a:lt1>
      <a:dk2>
        <a:srgbClr val="0D94D2"/>
      </a:dk2>
      <a:lt2>
        <a:srgbClr val="000000"/>
      </a:lt2>
      <a:accent1>
        <a:srgbClr val="0D94D2"/>
      </a:accent1>
      <a:accent2>
        <a:srgbClr val="7AC143"/>
      </a:accent2>
      <a:accent3>
        <a:srgbClr val="F58025"/>
      </a:accent3>
      <a:accent4>
        <a:srgbClr val="FDB913"/>
      </a:accent4>
      <a:accent5>
        <a:srgbClr val="6A737B"/>
      </a:accent5>
      <a:accent6>
        <a:srgbClr val="7C2B83"/>
      </a:accent6>
      <a:hlink>
        <a:srgbClr val="0D94D2"/>
      </a:hlink>
      <a:folHlink>
        <a:srgbClr val="F58025"/>
      </a:folHlink>
    </a:clrScheme>
    <a:fontScheme name="Cerner-2">
      <a:majorFont>
        <a:latin typeface="Franklin Gothic Book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tx2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marL="366713" marR="0" indent="-366713" algn="ctr" defTabSz="976313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Pct val="140000"/>
          <a:buFontTx/>
          <a:buNone/>
          <a:tabLst/>
          <a:defRPr kumimoji="0" sz="36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AF9335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366713" marR="0" indent="-366713" algn="ctr" defTabSz="976313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Pct val="140000"/>
          <a:buFontTx/>
          <a:buNone/>
          <a:tabLst/>
          <a:defRPr kumimoji="0" lang="en-US" sz="36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576396"/>
        </a:accent1>
        <a:accent2>
          <a:srgbClr val="A19B70"/>
        </a:accent2>
        <a:accent3>
          <a:srgbClr val="FFFFFF"/>
        </a:accent3>
        <a:accent4>
          <a:srgbClr val="000000"/>
        </a:accent4>
        <a:accent5>
          <a:srgbClr val="B4B7C9"/>
        </a:accent5>
        <a:accent6>
          <a:srgbClr val="918C65"/>
        </a:accent6>
        <a:hlink>
          <a:srgbClr val="688584"/>
        </a:hlink>
        <a:folHlink>
          <a:srgbClr val="D9933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14">
        <a:dk1>
          <a:srgbClr val="21345F"/>
        </a:dk1>
        <a:lt1>
          <a:srgbClr val="FFFFFF"/>
        </a:lt1>
        <a:dk2>
          <a:srgbClr val="1C7BA5"/>
        </a:dk2>
        <a:lt2>
          <a:srgbClr val="000000"/>
        </a:lt2>
        <a:accent1>
          <a:srgbClr val="AF9335"/>
        </a:accent1>
        <a:accent2>
          <a:srgbClr val="669933"/>
        </a:accent2>
        <a:accent3>
          <a:srgbClr val="FFFFFF"/>
        </a:accent3>
        <a:accent4>
          <a:srgbClr val="1B2B50"/>
        </a:accent4>
        <a:accent5>
          <a:srgbClr val="D4C8AE"/>
        </a:accent5>
        <a:accent6>
          <a:srgbClr val="5C8A2D"/>
        </a:accent6>
        <a:hlink>
          <a:srgbClr val="AF6227"/>
        </a:hlink>
        <a:folHlink>
          <a:srgbClr val="E8BA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CHC2011_PPT_Template_150dpi[1]</Template>
  <TotalTime>1366</TotalTime>
  <Words>4159</Words>
  <Application>Microsoft Office PowerPoint</Application>
  <PresentationFormat>On-screen Show (4:3)</PresentationFormat>
  <Paragraphs>2315</Paragraphs>
  <Slides>93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93</vt:i4>
      </vt:variant>
    </vt:vector>
  </HeadingPairs>
  <TitlesOfParts>
    <vt:vector size="95" baseType="lpstr">
      <vt:lpstr>CHC2011_PPT_Template_150dpi[1]</vt:lpstr>
      <vt:lpstr>Package</vt:lpstr>
      <vt:lpstr>Key PharmNet and Medication Related Tables and Fields: Where does all the data go when I click Sign or Submit? </vt:lpstr>
      <vt:lpstr>Key PharmNet and Medication - Tables and Fields</vt:lpstr>
      <vt:lpstr>PhaDBProductMgr - Header</vt:lpstr>
      <vt:lpstr>PhaDBProductMgr - Header</vt:lpstr>
      <vt:lpstr>PhaDBProductMgr – OE Defaults Tab</vt:lpstr>
      <vt:lpstr>PhaDBProductMgr – OE Defaults Tab (continued)</vt:lpstr>
      <vt:lpstr>PhaDBProductMgr – OE Defaults Tab (continued)</vt:lpstr>
      <vt:lpstr>PhaDBProductMgr – Dispense Tab</vt:lpstr>
      <vt:lpstr>PhaDBProductMgr – Dispense Tab (continued)</vt:lpstr>
      <vt:lpstr>PhaDBProductMgr – Dispense Tab (continued)</vt:lpstr>
      <vt:lpstr>PhaDBProductMgr – Inventory Tab</vt:lpstr>
      <vt:lpstr>PhaDBProductMgr – Inventory Tab (continued)</vt:lpstr>
      <vt:lpstr>PhaDBProductMgr – Clinical Tab</vt:lpstr>
      <vt:lpstr>PhaDBProductMgr – Clinical Tab (continued)</vt:lpstr>
      <vt:lpstr>PhaDBProductMgr – Supply Tab</vt:lpstr>
      <vt:lpstr>PhaDBProductMgr – Supply Properties</vt:lpstr>
      <vt:lpstr>PhaDBProductMgr – Supply Properties (continued)</vt:lpstr>
      <vt:lpstr>PhaDBProductMgr – Identifiers Tab</vt:lpstr>
      <vt:lpstr>PhaDBProductMgr – Alt - 3</vt:lpstr>
      <vt:lpstr>PhaDBProductMgr – Full query example</vt:lpstr>
      <vt:lpstr>PhaDBProductMgr – Full Query </vt:lpstr>
      <vt:lpstr>PhaDBProductMgr – Full Query (continued) </vt:lpstr>
      <vt:lpstr>PhaDBProductMgr – Full Query (continued) </vt:lpstr>
      <vt:lpstr>PhaDBProductMgr – Full Query (continued) </vt:lpstr>
      <vt:lpstr>PhaDBProductMgr – Full Query (continued) </vt:lpstr>
      <vt:lpstr>PhaDBProductMgr – Full Query (continued) </vt:lpstr>
      <vt:lpstr>Medication orders</vt:lpstr>
      <vt:lpstr>Medication orders</vt:lpstr>
      <vt:lpstr>For every order there is at least one action</vt:lpstr>
      <vt:lpstr>Details, details, details</vt:lpstr>
      <vt:lpstr>Medication orders</vt:lpstr>
      <vt:lpstr>Ingredients and Products</vt:lpstr>
      <vt:lpstr>Ce_event_order_link &amp; Clinical_event</vt:lpstr>
      <vt:lpstr>Ce_med_result</vt:lpstr>
      <vt:lpstr>Inventory Transactions</vt:lpstr>
      <vt:lpstr>Inventory Transactions</vt:lpstr>
      <vt:lpstr>Power Orders – Patient selected</vt:lpstr>
      <vt:lpstr>Power Orders – New order</vt:lpstr>
      <vt:lpstr>Power Orders – Profile &amp; Additional Info</vt:lpstr>
      <vt:lpstr>Power Orders – History</vt:lpstr>
      <vt:lpstr>Orders Database</vt:lpstr>
      <vt:lpstr>Power Orders – Orders Table</vt:lpstr>
      <vt:lpstr>Power Orders – Orders Table</vt:lpstr>
      <vt:lpstr>Power Orders – Orders Table</vt:lpstr>
      <vt:lpstr>Power Orders – Order Action Table</vt:lpstr>
      <vt:lpstr>Power Orders – Order Action Table</vt:lpstr>
      <vt:lpstr>Power Orders – Order Ingredient Table</vt:lpstr>
      <vt:lpstr>Power Orders – Order Ingredient Table</vt:lpstr>
      <vt:lpstr>Power Orders – Order Detail Table</vt:lpstr>
      <vt:lpstr>Power Orders – Order Detail Table</vt:lpstr>
      <vt:lpstr>Power Orders – Order Review Table</vt:lpstr>
      <vt:lpstr>Power Orders – Order Dispense Table</vt:lpstr>
      <vt:lpstr>Power Orders – Order Dispense Table</vt:lpstr>
      <vt:lpstr>Power Orders – Full Query</vt:lpstr>
      <vt:lpstr>Power Orders – Full Query (continued)</vt:lpstr>
      <vt:lpstr>Power Orders – Full query example</vt:lpstr>
      <vt:lpstr>Power Orders – EMAR</vt:lpstr>
      <vt:lpstr>Power Orders – EMAR</vt:lpstr>
      <vt:lpstr>Power Orders – EMAR</vt:lpstr>
      <vt:lpstr>EMAR – Ce_event_order_link table</vt:lpstr>
      <vt:lpstr>EMAR – Clinical_event table</vt:lpstr>
      <vt:lpstr>EMAR – Clinical_event table</vt:lpstr>
      <vt:lpstr>EMAR – Ce_med_result table</vt:lpstr>
      <vt:lpstr>EMAR – Ce_med_result table</vt:lpstr>
      <vt:lpstr>Power Orders – EMAR Full Query</vt:lpstr>
      <vt:lpstr>Power Orders – EMAR – Full Query example</vt:lpstr>
      <vt:lpstr>PhaMedMgr – Verification</vt:lpstr>
      <vt:lpstr>PhaMedMgr – Verification</vt:lpstr>
      <vt:lpstr>PhaMedMgr – Verification </vt:lpstr>
      <vt:lpstr>PhaMedMgr – Verify - Orders (only changed fields)</vt:lpstr>
      <vt:lpstr>PhaMedMgr - Verification – Order_dispense Table</vt:lpstr>
      <vt:lpstr>PhaMedMgr - Verify – Order_action (new)</vt:lpstr>
      <vt:lpstr>PhaMedMgr - Verify – Order_action (new)</vt:lpstr>
      <vt:lpstr>PhaMedMgr - Verify – Order_ingredient (new)</vt:lpstr>
      <vt:lpstr>PhaMedMgr - Verify – Order_ingredient (new)</vt:lpstr>
      <vt:lpstr>PhaMedMgr - Verify – Order_detail (new)</vt:lpstr>
      <vt:lpstr>PhaMedMgr - Verify – Order_product (new)</vt:lpstr>
      <vt:lpstr>PhaMedMgr - Verify – Order_review</vt:lpstr>
      <vt:lpstr>Dispensing Database</vt:lpstr>
      <vt:lpstr>PhaMedMgr - Verify – Dispense_hx</vt:lpstr>
      <vt:lpstr>PhaMedMgr - Verify – Prod_dispense_hx</vt:lpstr>
      <vt:lpstr>PhaMedMgr - Verify – Charge_event</vt:lpstr>
      <vt:lpstr>PhaMedMgr - Verify – Charge</vt:lpstr>
      <vt:lpstr>PhaMedMgr - Verify – mm_trans_header</vt:lpstr>
      <vt:lpstr>PhaMedMgr - Verify – mm_trans_line</vt:lpstr>
      <vt:lpstr>PhaMedMgr - Verify – mm_trans_line</vt:lpstr>
      <vt:lpstr>PhaMedMgr - Verify – mm_trans_line</vt:lpstr>
      <vt:lpstr>PhaMedMgr - Verify – mm_trans_line</vt:lpstr>
      <vt:lpstr>PhaMedMgr - Verify – mm_trans_line</vt:lpstr>
      <vt:lpstr>PhaMedMgr - Verify – mm_trans_gl</vt:lpstr>
      <vt:lpstr>PhaMedMgr – Verify – Full Query</vt:lpstr>
      <vt:lpstr>PhaMedMgr – Verify – Full Query</vt:lpstr>
      <vt:lpstr>PhaMedMgr – Verify – Full Query example</vt:lpstr>
    </vt:vector>
  </TitlesOfParts>
  <Company>Cerner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Name</dc:title>
  <dc:creator>SM021601</dc:creator>
  <cp:lastModifiedBy>dbaker1</cp:lastModifiedBy>
  <cp:revision>216</cp:revision>
  <cp:lastPrinted>2011-03-17T23:05:18Z</cp:lastPrinted>
  <dcterms:created xsi:type="dcterms:W3CDTF">2011-07-14T19:01:18Z</dcterms:created>
  <dcterms:modified xsi:type="dcterms:W3CDTF">2012-09-26T19:10:29Z</dcterms:modified>
</cp:coreProperties>
</file>